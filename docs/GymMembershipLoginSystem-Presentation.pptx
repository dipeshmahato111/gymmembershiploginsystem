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20"/>
    <p:sldId id="270" r:id="rId2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188720"/>
            <a:ext cx="1554480" cy="1554480"/>
          </a:xfrm>
          <a:prstGeom prst="ellipse">
            <a:avLst/>
          </a:prstGeom>
          <a:solidFill>
            <a:srgbClr val="F2B705"/>
          </a:solidFill>
          <a:ln w="972">
            <a:solidFill>
              <a:srgbClr val="3B1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4952" y="1888236"/>
            <a:ext cx="621792" cy="155448"/>
          </a:xfrm>
          <a:prstGeom prst="roundRect">
            <a:avLst>
              <a:gd name="adj" fmla="val 50000"/>
            </a:avLst>
          </a:prstGeom>
          <a:solidFill>
            <a:srgbClr val="3B1E63"/>
          </a:solidFill>
          <a:ln/>
        </p:spPr>
      </p:sp>
      <p:sp>
        <p:nvSpPr>
          <p:cNvPr id="4" name="Shape 2"/>
          <p:cNvSpPr/>
          <p:nvPr/>
        </p:nvSpPr>
        <p:spPr>
          <a:xfrm>
            <a:off x="5551780" y="1608430"/>
            <a:ext cx="170993" cy="715061"/>
          </a:xfrm>
          <a:prstGeom prst="roundRect">
            <a:avLst>
              <a:gd name="adj" fmla="val 16043"/>
            </a:avLst>
          </a:prstGeom>
          <a:solidFill>
            <a:srgbClr val="3B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753862" y="1732788"/>
            <a:ext cx="170993" cy="466344"/>
          </a:xfrm>
          <a:prstGeom prst="roundRect">
            <a:avLst>
              <a:gd name="adj" fmla="val 16043"/>
            </a:avLst>
          </a:prstGeom>
          <a:solidFill>
            <a:srgbClr val="3B1E63"/>
          </a:solidFill>
          <a:ln/>
        </p:spPr>
      </p:sp>
      <p:sp>
        <p:nvSpPr>
          <p:cNvPr id="6" name="Shape 4"/>
          <p:cNvSpPr/>
          <p:nvPr/>
        </p:nvSpPr>
        <p:spPr>
          <a:xfrm>
            <a:off x="6266840" y="1732788"/>
            <a:ext cx="170993" cy="466344"/>
          </a:xfrm>
          <a:prstGeom prst="roundRect">
            <a:avLst>
              <a:gd name="adj" fmla="val 16043"/>
            </a:avLst>
          </a:prstGeom>
          <a:solidFill>
            <a:srgbClr val="3B1E63"/>
          </a:solidFill>
          <a:ln/>
        </p:spPr>
      </p:sp>
      <p:sp>
        <p:nvSpPr>
          <p:cNvPr id="7" name="Shape 5"/>
          <p:cNvSpPr/>
          <p:nvPr/>
        </p:nvSpPr>
        <p:spPr>
          <a:xfrm>
            <a:off x="6468923" y="1608430"/>
            <a:ext cx="170993" cy="715061"/>
          </a:xfrm>
          <a:prstGeom prst="roundRect">
            <a:avLst>
              <a:gd name="adj" fmla="val 16043"/>
            </a:avLst>
          </a:prstGeom>
          <a:solidFill>
            <a:srgbClr val="3B1E6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Membership Login 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4398  •  Software Engineering Project  •  Fall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Dipesh Mahato   •   Andrew Lee   •   Dalton Lyon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github.com/dipeshmahato111/GymMembershipLoginSystem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system that replaces manual, paper-based gym operations with a secure, role-based digital workflow — covering membership, attendance, classes, and payments.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3977640"/>
          </a:xfrm>
          <a:prstGeom prst="roundRect">
            <a:avLst>
              <a:gd name="adj" fmla="val 2069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78728" y="2148840"/>
            <a:ext cx="5364328" cy="3977640"/>
          </a:xfrm>
          <a:prstGeom prst="roundRect">
            <a:avLst>
              <a:gd name="adj" fmla="val 2069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774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&amp; multi-tier authentication (Admin / Trainer / Receptionist / Member)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creation, renewal, and suspension across pricing tiers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check-in / check-out tracking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class scheduling and booking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payment processing &amp; receipts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3048" y="23774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53048" y="278892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physical hardware control (turnstiles, RFID readers) — the system issues software approval signals only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accounting / payroll — transactions are logged, not a QuickBooks replacement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third-party payment gateway (simulated for this class project)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5E2CA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4203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UI — LoginFrame, role dashboards, feature dialogs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9918" y="2980944"/>
            <a:ext cx="393192" cy="164592"/>
          </a:xfrm>
          <a:prstGeom prst="rightArrow">
            <a:avLst/>
          </a:prstGeom>
          <a:solidFill>
            <a:srgbClr val="C9B8E8"/>
          </a:solidFill>
          <a:ln/>
        </p:spPr>
      </p:sp>
      <p:sp>
        <p:nvSpPr>
          <p:cNvPr id="8" name="Shape 6"/>
          <p:cNvSpPr/>
          <p:nvPr/>
        </p:nvSpPr>
        <p:spPr>
          <a:xfrm>
            <a:off x="3447974" y="237744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5E2CA5"/>
          </a:solidFill>
          <a:ln/>
        </p:spPr>
      </p:sp>
      <p:sp>
        <p:nvSpPr>
          <p:cNvPr id="9" name="Text 7"/>
          <p:cNvSpPr/>
          <p:nvPr/>
        </p:nvSpPr>
        <p:spPr>
          <a:xfrm>
            <a:off x="3447974" y="254203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85134" y="2944368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validation — one per use case 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9252" y="2980944"/>
            <a:ext cx="393192" cy="164592"/>
          </a:xfrm>
          <a:prstGeom prst="rightArrow">
            <a:avLst/>
          </a:prstGeom>
          <a:solidFill>
            <a:srgbClr val="C9B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47308" y="237744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5E2CA5"/>
          </a:solidFill>
          <a:ln/>
        </p:spPr>
      </p:sp>
      <p:sp>
        <p:nvSpPr>
          <p:cNvPr id="13" name="Text 11"/>
          <p:cNvSpPr/>
          <p:nvPr/>
        </p:nvSpPr>
        <p:spPr>
          <a:xfrm>
            <a:off x="6347308" y="254203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4468" y="2944368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— parameterized SQL over JDBC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98585" y="2980944"/>
            <a:ext cx="393192" cy="164592"/>
          </a:xfrm>
          <a:prstGeom prst="rightArrow">
            <a:avLst/>
          </a:prstGeom>
          <a:solidFill>
            <a:srgbClr val="C9B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9246641" y="237744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3B1E63"/>
          </a:solidFill>
          <a:ln/>
        </p:spPr>
      </p:sp>
      <p:sp>
        <p:nvSpPr>
          <p:cNvPr id="17" name="Text 15"/>
          <p:cNvSpPr/>
          <p:nvPr/>
        </p:nvSpPr>
        <p:spPr>
          <a:xfrm>
            <a:off x="9246641" y="2542032"/>
            <a:ext cx="2396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3801" y="2944368"/>
            <a:ext cx="21220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gym_management relational database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47974" y="4343400"/>
            <a:ext cx="2396414" cy="822960"/>
          </a:xfrm>
          <a:prstGeom prst="roundRect">
            <a:avLst>
              <a:gd name="adj" fmla="val 8889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974" y="4434840"/>
            <a:ext cx="239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39414" y="4736592"/>
            <a:ext cx="22135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data classes shared across layers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6181" y="3749040"/>
            <a:ext cx="0" cy="594360"/>
          </a:xfrm>
          <a:prstGeom prst="line">
            <a:avLst/>
          </a:prstGeom>
          <a:noFill/>
          <a:ln w="19050">
            <a:solidFill>
              <a:srgbClr val="C9B8E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never touch the database directly — every screen calls a controller, which returns a Result/AuthResult so validation logic stays testable independent of the GUI (see test/controller).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User Roles, One Consistent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81051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21284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control: manage users, configure membership pricing, generate reports.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55448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05740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/>
          <p:nvPr/>
        </p:nvSpPr>
        <p:spPr>
          <a:xfrm>
            <a:off x="6553048" y="2039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13168" y="181051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13168" y="221284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fitness classes and views class rosters.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87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95935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436168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members, checks members in, and processes payments.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370332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3048" y="420624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048" y="4187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13168" y="395935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3168" y="4361688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membership status, books classes, checks in, tracks attendance history.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UML CLASS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44288" y="141732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3B1E63"/>
          </a:solidFill>
          <a:ln/>
        </p:spPr>
      </p:sp>
      <p:sp>
        <p:nvSpPr>
          <p:cNvPr id="5" name="Text 3"/>
          <p:cNvSpPr/>
          <p:nvPr/>
        </p:nvSpPr>
        <p:spPr>
          <a:xfrm>
            <a:off x="5135728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«abstract» 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35728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passwordHash, role, status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95848" y="2075688"/>
            <a:ext cx="0" cy="292608"/>
          </a:xfrm>
          <a:prstGeom prst="line">
            <a:avLst/>
          </a:prstGeom>
          <a:noFill/>
          <a:ln w="19050">
            <a:solidFill>
              <a:srgbClr val="C9B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1924" y="2368296"/>
            <a:ext cx="7927848" cy="0"/>
          </a:xfrm>
          <a:prstGeom prst="line">
            <a:avLst/>
          </a:prstGeom>
          <a:noFill/>
          <a:ln w="19050">
            <a:solidFill>
              <a:srgbClr val="C9B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1924" y="2368296"/>
            <a:ext cx="0" cy="329184"/>
          </a:xfrm>
          <a:prstGeom prst="line">
            <a:avLst/>
          </a:prstGeom>
          <a:noFill/>
          <a:ln w="19050">
            <a:solidFill>
              <a:srgbClr val="C9B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4540" y="2368296"/>
            <a:ext cx="0" cy="329184"/>
          </a:xfrm>
          <a:prstGeom prst="line">
            <a:avLst/>
          </a:prstGeom>
          <a:noFill/>
          <a:ln w="19050">
            <a:solidFill>
              <a:srgbClr val="C9B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17156" y="2368296"/>
            <a:ext cx="0" cy="329184"/>
          </a:xfrm>
          <a:prstGeom prst="line">
            <a:avLst/>
          </a:prstGeom>
          <a:noFill/>
          <a:ln w="19050">
            <a:solidFill>
              <a:srgbClr val="C9B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9772" y="2368296"/>
            <a:ext cx="0" cy="329184"/>
          </a:xfrm>
          <a:prstGeom prst="line">
            <a:avLst/>
          </a:prstGeom>
          <a:noFill/>
          <a:ln w="19050">
            <a:solidFill>
              <a:srgbClr val="C9B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6064" y="269748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5E2CA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7504" y="2761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7504" y="3017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adminLevel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08680" y="269748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5E2CA5"/>
          </a:solidFill>
          <a:ln/>
        </p:spPr>
      </p:sp>
      <p:sp>
        <p:nvSpPr>
          <p:cNvPr id="17" name="Text 15"/>
          <p:cNvSpPr/>
          <p:nvPr/>
        </p:nvSpPr>
        <p:spPr>
          <a:xfrm>
            <a:off x="3700120" y="2761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0120" y="3017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trainerId, specialization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1296" y="269748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5E2CA5"/>
          </a:solidFill>
          <a:ln/>
        </p:spPr>
      </p:sp>
      <p:sp>
        <p:nvSpPr>
          <p:cNvPr id="20" name="Text 18"/>
          <p:cNvSpPr/>
          <p:nvPr/>
        </p:nvSpPr>
        <p:spPr>
          <a:xfrm>
            <a:off x="6342736" y="2761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42736" y="3017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93912" y="2697480"/>
            <a:ext cx="2331720" cy="621792"/>
          </a:xfrm>
          <a:prstGeom prst="roundRect">
            <a:avLst>
              <a:gd name="adj" fmla="val 8824"/>
            </a:avLst>
          </a:prstGeom>
          <a:solidFill>
            <a:srgbClr val="5E2CA5"/>
          </a:solidFill>
          <a:ln/>
        </p:spPr>
      </p:sp>
      <p:sp>
        <p:nvSpPr>
          <p:cNvPr id="23" name="Text 21"/>
          <p:cNvSpPr/>
          <p:nvPr/>
        </p:nvSpPr>
        <p:spPr>
          <a:xfrm>
            <a:off x="8985352" y="2761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85352" y="30175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joinDate, status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4540" y="3319272"/>
            <a:ext cx="0" cy="813816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60424" y="4133088"/>
            <a:ext cx="3214116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0424" y="4133088"/>
            <a:ext cx="0" cy="146304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584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4584" y="4279392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4F0FB"/>
          </a:solidFill>
          <a:ln/>
        </p:spPr>
      </p:sp>
      <p:sp>
        <p:nvSpPr>
          <p:cNvPr id="30" name="Text 28"/>
          <p:cNvSpPr/>
          <p:nvPr/>
        </p:nvSpPr>
        <p:spPr>
          <a:xfrm>
            <a:off x="646024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FitnessClass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6024" y="4599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className, schedule, capacity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059772" y="3319272"/>
            <a:ext cx="0" cy="813816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28136" y="4133088"/>
            <a:ext cx="6231636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28136" y="4133088"/>
            <a:ext cx="0" cy="146304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22296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22296" y="4279392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4F0FB"/>
          </a:solidFill>
          <a:ln/>
        </p:spPr>
      </p:sp>
      <p:sp>
        <p:nvSpPr>
          <p:cNvPr id="37" name="Text 35"/>
          <p:cNvSpPr/>
          <p:nvPr/>
        </p:nvSpPr>
        <p:spPr>
          <a:xfrm>
            <a:off x="2913736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13736" y="4599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price, dates, status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90008" y="4279392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4F0FB"/>
          </a:solidFill>
          <a:ln/>
        </p:spPr>
      </p:sp>
      <p:sp>
        <p:nvSpPr>
          <p:cNvPr id="40" name="Text 38"/>
          <p:cNvSpPr/>
          <p:nvPr/>
        </p:nvSpPr>
        <p:spPr>
          <a:xfrm>
            <a:off x="5181448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81448" y="4599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method, status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059772" y="3319272"/>
            <a:ext cx="0" cy="813816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3560" y="4133088"/>
            <a:ext cx="1696212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63560" y="4133088"/>
            <a:ext cx="0" cy="146304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57720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357720" y="4279392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4F0FB"/>
          </a:solidFill>
          <a:ln/>
        </p:spPr>
      </p:sp>
      <p:sp>
        <p:nvSpPr>
          <p:cNvPr id="47" name="Text 45"/>
          <p:cNvSpPr/>
          <p:nvPr/>
        </p:nvSpPr>
        <p:spPr>
          <a:xfrm>
            <a:off x="7449160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49160" y="4599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checkInTime, checkOutTime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059772" y="3319272"/>
            <a:ext cx="0" cy="813816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59772" y="4133088"/>
            <a:ext cx="57150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31272" y="4133088"/>
            <a:ext cx="0" cy="146304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25432" y="3858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625432" y="4279392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F4F0FB"/>
          </a:solidFill>
          <a:ln/>
        </p:spPr>
      </p:sp>
      <p:sp>
        <p:nvSpPr>
          <p:cNvPr id="54" name="Text 52"/>
          <p:cNvSpPr/>
          <p:nvPr/>
        </p:nvSpPr>
        <p:spPr>
          <a:xfrm>
            <a:off x="9716872" y="4343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716872" y="4599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classId, date, status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33976" y="4608576"/>
            <a:ext cx="256032" cy="0"/>
          </a:xfrm>
          <a:prstGeom prst="line">
            <a:avLst/>
          </a:prstGeom>
          <a:noFill/>
          <a:ln w="19050">
            <a:solidFill>
              <a:srgbClr val="C9B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6192" y="49926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Statechart — Membership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2103120" cy="914400"/>
          </a:xfrm>
          <a:prstGeom prst="roundRect">
            <a:avLst>
              <a:gd name="adj" fmla="val 50000"/>
            </a:avLst>
          </a:prstGeom>
          <a:solidFill>
            <a:srgbClr val="5E2C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44288" y="2743200"/>
            <a:ext cx="2103120" cy="914400"/>
          </a:xfrm>
          <a:prstGeom prst="roundRect">
            <a:avLst>
              <a:gd name="adj" fmla="val 50000"/>
            </a:avLst>
          </a:prstGeom>
          <a:solidFill>
            <a:srgbClr val="6B6280"/>
          </a:solidFill>
          <a:ln/>
        </p:spPr>
      </p:sp>
      <p:sp>
        <p:nvSpPr>
          <p:cNvPr id="7" name="Text 5"/>
          <p:cNvSpPr/>
          <p:nvPr/>
        </p:nvSpPr>
        <p:spPr>
          <a:xfrm>
            <a:off x="5044288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65615" y="2743200"/>
            <a:ext cx="2103120" cy="914400"/>
          </a:xfrm>
          <a:prstGeom prst="roundRect">
            <a:avLst>
              <a:gd name="adj" fmla="val 50000"/>
            </a:avLst>
          </a:prstGeom>
          <a:solidFill>
            <a:srgbClr val="3B1E63"/>
          </a:solidFill>
          <a:ln/>
        </p:spPr>
      </p:sp>
      <p:sp>
        <p:nvSpPr>
          <p:cNvPr id="9" name="Text 7"/>
          <p:cNvSpPr/>
          <p:nvPr/>
        </p:nvSpPr>
        <p:spPr>
          <a:xfrm>
            <a:off x="9265615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SUSPENDED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17520" y="3118104"/>
            <a:ext cx="1935328" cy="164592"/>
          </a:xfrm>
          <a:prstGeom prst="rightArrow">
            <a:avLst/>
          </a:prstGeom>
          <a:solidFill>
            <a:srgbClr val="C9B8E8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423160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 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38848" y="3621024"/>
            <a:ext cx="1935328" cy="164592"/>
          </a:xfrm>
          <a:prstGeom prst="leftArrow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/>
          <p:nvPr/>
        </p:nvSpPr>
        <p:spPr>
          <a:xfrm>
            <a:off x="7147408" y="3886200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renewMembership()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V="1">
            <a:off x="1097280" y="1691640"/>
            <a:ext cx="1097280" cy="914400"/>
          </a:xfrm>
          <a:prstGeom prst="bentArrow">
            <a:avLst/>
          </a:prstGeom>
          <a:solidFill>
            <a:srgbClr val="3B1E6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suspendMembership()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isActive() = status == ACTIVE  &amp;&amp;  endDate has not passed. Gates both check-in (AT-3) and class booking (AT-4).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Statecharts — Attendance &amp; Account Lockout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156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1737360" cy="777240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4760" y="2331720"/>
            <a:ext cx="1737360" cy="777240"/>
          </a:xfrm>
          <a:prstGeom prst="roundRect">
            <a:avLst>
              <a:gd name="adj" fmla="val 50000"/>
            </a:avLst>
          </a:prstGeom>
          <a:solidFill>
            <a:srgbClr val="5E2CA5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70632" y="2441448"/>
            <a:ext cx="950976" cy="128016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2039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70632" y="2871216"/>
            <a:ext cx="950976" cy="128016"/>
          </a:xfrm>
          <a:prstGeom prst="leftArrow">
            <a:avLst/>
          </a:prstGeom>
          <a:solidFill>
            <a:srgbClr val="C9B8E8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2331720"/>
            <a:ext cx="1737360" cy="777240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1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0" y="2331720"/>
            <a:ext cx="1737360" cy="777240"/>
          </a:xfrm>
          <a:prstGeom prst="roundRect">
            <a:avLst>
              <a:gd name="adj" fmla="val 50000"/>
            </a:avLst>
          </a:prstGeom>
          <a:solidFill>
            <a:srgbClr val="5E2CA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77072" y="2441448"/>
            <a:ext cx="950976" cy="128016"/>
          </a:xfrm>
          <a:prstGeom prst="rightArrow">
            <a:avLst/>
          </a:prstGeom>
          <a:solidFill>
            <a:srgbClr val="F2B705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039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failed login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77072" y="2871216"/>
            <a:ext cx="950976" cy="128016"/>
          </a:xfrm>
          <a:prstGeom prst="leftArrow">
            <a:avLst/>
          </a:prstGeom>
          <a:solidFill>
            <a:srgbClr val="C9B8E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after 15 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4737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4.2 Robustness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773168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cannot check in twice without checking out first, and cannot check in while their membership is expired or suspended. A user account is automatically locked for 15 minutes after 5 consecutive failed login attempts, then unlocks itself — no admin intervention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— SRS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Core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5E2CA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90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49047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Member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1490472"/>
            <a:ext cx="73453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captures profile details, selects a plan, and creates an active membership.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566928" cy="566928"/>
          </a:xfrm>
          <a:prstGeom prst="ellipse">
            <a:avLst/>
          </a:prstGeom>
          <a:solidFill>
            <a:srgbClr val="3B1E6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86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38658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Login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386584"/>
            <a:ext cx="73453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 auth with lockout protection; routes to the correct role dashboard.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566928" cy="566928"/>
          </a:xfrm>
          <a:prstGeom prst="ellipse">
            <a:avLst/>
          </a:prstGeom>
          <a:solidFill>
            <a:srgbClr val="5E2CA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28269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282696"/>
            <a:ext cx="73453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an active membership before logging a timestamped attendance record.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97096"/>
            <a:ext cx="566928" cy="566928"/>
          </a:xfrm>
          <a:prstGeom prst="ellipse">
            <a:avLst/>
          </a:prstGeom>
          <a:solidFill>
            <a:srgbClr val="3B1E6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17880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Fitness Class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178808"/>
            <a:ext cx="73453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reserve open seats in trainer-scheduled classes; capacity enforced live.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93208"/>
            <a:ext cx="566928" cy="566928"/>
          </a:xfrm>
          <a:prstGeom prst="ellipse">
            <a:avLst/>
          </a:prstGeom>
          <a:solidFill>
            <a:srgbClr val="5E2CA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07492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Payment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5074920"/>
            <a:ext cx="73453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charges a membership plan and extends/reactivates the subscription.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— SRS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Reliability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125980"/>
            <a:ext cx="384048" cy="352044"/>
          </a:xfrm>
          <a:prstGeom prst="ellipse">
            <a:avLst/>
          </a:prstGeom>
          <a:ln w="800">
            <a:solidFill>
              <a:srgbClr val="5E2C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394814"/>
            <a:ext cx="512064" cy="352044"/>
          </a:xfrm>
          <a:prstGeom prst="roundRect">
            <a:avLst>
              <a:gd name="adj" fmla="val 10390"/>
            </a:avLst>
          </a:prstGeom>
          <a:solidFill>
            <a:srgbClr val="5E2CA5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8105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Hashing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37360" y="2212848"/>
            <a:ext cx="394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PBKDF2WithHmacSHA256, 65,536 iterations, random salt per user — never stored in plaintext.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55448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125980"/>
            <a:ext cx="640080" cy="640080"/>
          </a:xfrm>
          <a:prstGeom prst="donut">
            <a:avLst/>
          </a:prstGeom>
          <a:solidFill>
            <a:srgbClr val="5E2CA5"/>
          </a:solidFill>
          <a:ln/>
        </p:spPr>
      </p:sp>
      <p:sp>
        <p:nvSpPr>
          <p:cNvPr id="11" name="Text 9"/>
          <p:cNvSpPr/>
          <p:nvPr/>
        </p:nvSpPr>
        <p:spPr>
          <a:xfrm>
            <a:off x="7467448" y="18105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Lockout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67448" y="2212848"/>
            <a:ext cx="394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failed attempts locks an account for 15 minutes automatically.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74820"/>
            <a:ext cx="640080" cy="640080"/>
          </a:xfrm>
          <a:prstGeom prst="hexagon">
            <a:avLst/>
          </a:prstGeom>
          <a:solidFill>
            <a:srgbClr val="5E2CA5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395935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737360" y="4361688"/>
            <a:ext cx="394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&amp; trainers cannot reach admin tables or financial logs.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8728" y="3703320"/>
            <a:ext cx="5364328" cy="1783080"/>
          </a:xfrm>
          <a:prstGeom prst="roundRect">
            <a:avLst>
              <a:gd name="adj" fmla="val 4615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3048" y="4274820"/>
            <a:ext cx="640080" cy="640080"/>
          </a:xfrm>
          <a:prstGeom prst="can">
            <a:avLst/>
          </a:prstGeom>
          <a:solidFill>
            <a:srgbClr val="5E2CA5"/>
          </a:solidFill>
          <a:ln/>
        </p:spPr>
      </p:sp>
      <p:sp>
        <p:nvSpPr>
          <p:cNvPr id="19" name="Text 17"/>
          <p:cNvSpPr/>
          <p:nvPr/>
        </p:nvSpPr>
        <p:spPr>
          <a:xfrm>
            <a:off x="7467448" y="395935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Defense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467448" y="4361688"/>
            <a:ext cx="3947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across every DAO uses PreparedStatement — zero string-concatenated SQL.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Testing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has a documented test in docs/acceptance-test-plan.md covering the happy path plus every alternate flow from the SRS — executed against a live MySQL instance with a screenshot per step.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374904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7345375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C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C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Alternate Flows Verified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CA5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Member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username/email; missing required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password x5 → lockout; correct password rejected while locked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checked in; suspended membership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Fitness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full; duplicate booking; expired membership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1E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4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Payment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 payment; membership correctly extended on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184148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1184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1388" y="219456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1388" y="21945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4468" y="2194560"/>
            <a:ext cx="1184148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4468" y="2194560"/>
            <a:ext cx="1184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57216" y="2194560"/>
            <a:ext cx="813816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2194560"/>
            <a:ext cx="81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2194560"/>
            <a:ext cx="1184148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2194560"/>
            <a:ext cx="11841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12380" y="2194560"/>
            <a:ext cx="690372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2380" y="2194560"/>
            <a:ext cx="6903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31352" y="2194560"/>
            <a:ext cx="1060704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1352" y="219456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90088"/>
            <a:ext cx="1924812" cy="566928"/>
          </a:xfrm>
          <a:prstGeom prst="roundRect">
            <a:avLst>
              <a:gd name="adj" fmla="val 50000"/>
            </a:avLst>
          </a:prstGeom>
          <a:solidFill>
            <a:srgbClr val="F4F0FB"/>
          </a:solidFill>
          <a:ln w="12700">
            <a:solidFill>
              <a:srgbClr val="C9B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90088"/>
            <a:ext cx="19248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4737"/>
            </a:avLst>
          </a:prstGeom>
          <a:solidFill>
            <a:srgbClr val="F4F0FB"/>
          </a:solidFill>
          <a:ln/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(SRS 4.4)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773168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OOP layering, DB credentials externalized to db.properties (never hard-coded), and membership tier pricing editable from the Admin Dashboard — no rebuild required to change a rate.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github.com/dipeshmahato111/GymMembershipLoginSystem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2587358"/>
          </a:xfrm>
          <a:prstGeom prst="roundRect">
            <a:avLst>
              <a:gd name="adj" fmla="val 2827"/>
            </a:avLst>
          </a:prstGeom>
          <a:solidFill>
            <a:srgbClr val="0D1117"/>
          </a:solidFill>
          <a:ln w="12700">
            <a:solidFill>
              <a:srgbClr val="C9B8E8"/>
            </a:solidFill>
            <a:prstDash val="solid"/>
          </a:ln>
        </p:spPr>
      </p:sp>
      <p:pic>
        <p:nvPicPr>
          <p:cNvPr id="6" name="Image 0" descr="network-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039112"/>
            <a:ext cx="10948111" cy="24410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7270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history on a single main branch (3 commits) as of this snapshot — captured directly from GitHub Insights → Network.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1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1508760"/>
            <a:ext cx="1188720" cy="1188720"/>
          </a:xfrm>
          <a:prstGeom prst="ellipse">
            <a:avLst/>
          </a:prstGeom>
          <a:solidFill>
            <a:srgbClr val="F2B705"/>
          </a:solidFill>
          <a:ln w="743">
            <a:solidFill>
              <a:srgbClr val="3B1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8104" y="2043684"/>
            <a:ext cx="475488" cy="118872"/>
          </a:xfrm>
          <a:prstGeom prst="roundRect">
            <a:avLst>
              <a:gd name="adj" fmla="val 50000"/>
            </a:avLst>
          </a:prstGeom>
          <a:solidFill>
            <a:srgbClr val="3B1E63"/>
          </a:solidFill>
          <a:ln/>
        </p:spPr>
      </p:sp>
      <p:sp>
        <p:nvSpPr>
          <p:cNvPr id="4" name="Shape 2"/>
          <p:cNvSpPr/>
          <p:nvPr/>
        </p:nvSpPr>
        <p:spPr>
          <a:xfrm>
            <a:off x="5679796" y="1829714"/>
            <a:ext cx="130759" cy="546811"/>
          </a:xfrm>
          <a:prstGeom prst="roundRect">
            <a:avLst>
              <a:gd name="adj" fmla="val 20979"/>
            </a:avLst>
          </a:prstGeom>
          <a:solidFill>
            <a:srgbClr val="3B1E63"/>
          </a:solidFill>
          <a:ln/>
        </p:spPr>
      </p:sp>
      <p:sp>
        <p:nvSpPr>
          <p:cNvPr id="5" name="Shape 3"/>
          <p:cNvSpPr/>
          <p:nvPr/>
        </p:nvSpPr>
        <p:spPr>
          <a:xfrm>
            <a:off x="5834329" y="1924812"/>
            <a:ext cx="130759" cy="356616"/>
          </a:xfrm>
          <a:prstGeom prst="roundRect">
            <a:avLst>
              <a:gd name="adj" fmla="val 20979"/>
            </a:avLst>
          </a:prstGeom>
          <a:solidFill>
            <a:srgbClr val="3B1E63"/>
          </a:solidFill>
          <a:ln/>
        </p:spPr>
      </p:sp>
      <p:sp>
        <p:nvSpPr>
          <p:cNvPr id="6" name="Shape 4"/>
          <p:cNvSpPr/>
          <p:nvPr/>
        </p:nvSpPr>
        <p:spPr>
          <a:xfrm>
            <a:off x="6226607" y="1924812"/>
            <a:ext cx="130759" cy="356616"/>
          </a:xfrm>
          <a:prstGeom prst="roundRect">
            <a:avLst>
              <a:gd name="adj" fmla="val 20979"/>
            </a:avLst>
          </a:prstGeom>
          <a:solidFill>
            <a:srgbClr val="3B1E63"/>
          </a:solidFill>
          <a:ln/>
        </p:spPr>
      </p:sp>
      <p:sp>
        <p:nvSpPr>
          <p:cNvPr id="7" name="Shape 5"/>
          <p:cNvSpPr/>
          <p:nvPr/>
        </p:nvSpPr>
        <p:spPr>
          <a:xfrm>
            <a:off x="6381140" y="1829714"/>
            <a:ext cx="130759" cy="546811"/>
          </a:xfrm>
          <a:prstGeom prst="roundRect">
            <a:avLst>
              <a:gd name="adj" fmla="val 20979"/>
            </a:avLst>
          </a:prstGeom>
          <a:solidFill>
            <a:srgbClr val="3B1E6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Dipesh Mahato   •   Andrew Lee   •   Dalton Lyon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100" b="1" spc="200">
                <a:solidFill>
                  <a:srgbClr val="5E2CA5"/>
                </a:solidFill>
                <a:latin typeface="Calibri"/>
              </a:rPr>
              <a:t>APPLICATION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3000" b="1">
                <a:solidFill>
                  <a:srgbClr val="241B33"/>
                </a:solidFill>
                <a:latin typeface="Cambria"/>
              </a:rPr>
              <a:t>Branded Login &amp;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560320" cy="4343400"/>
          </a:xfrm>
          <a:prstGeom prst="roundRect">
            <a:avLst>
              <a:gd name="adj" fmla="val 3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71" y="1691639"/>
            <a:ext cx="2193657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30952"/>
            <a:ext cx="25603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E2CA5"/>
                </a:solidFill>
                <a:latin typeface="Calibri"/>
              </a:rPr>
              <a:t>LOGIN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79" y="1554480"/>
            <a:ext cx="2560320" cy="4343400"/>
          </a:xfrm>
          <a:prstGeom prst="roundRect">
            <a:avLst>
              <a:gd name="adj" fmla="val 3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login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611" y="1691639"/>
            <a:ext cx="2193657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79" y="5330952"/>
            <a:ext cx="25603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E2CA5"/>
                </a:solidFill>
                <a:latin typeface="Calibri"/>
              </a:rPr>
              <a:t>SUCCESSFUL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00200"/>
            <a:ext cx="55778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E2CA5"/>
                </a:solidFill>
                <a:latin typeface="Calibri"/>
              </a:rPr>
              <a:t>HOW IT WORKS</a:t>
            </a:r>
          </a:p>
          <a:p>
            <a:pPr marL="228600" indent="-228600">
              <a:spcBef>
                <a:spcPts val="1000"/>
              </a:spcBef>
              <a:buFont typeface="Arial"/>
              <a:buChar char="●"/>
            </a:pPr>
            <a:r>
              <a:rPr sz="1300">
                <a:solidFill>
                  <a:srgbClr val="241B33"/>
                </a:solidFill>
                <a:latin typeface="Calibri"/>
              </a:rPr>
              <a:t>Purple brand theme with a logo drawn at runtime via Graphics2D — no external image asset to manage (UiTheme, GymLogoPanel)</a:t>
            </a:r>
          </a:p>
          <a:p>
            <a:pPr marL="228600" indent="-228600">
              <a:spcBef>
                <a:spcPts val="1000"/>
              </a:spcBef>
              <a:buFont typeface="Arial"/>
              <a:buChar char="●"/>
            </a:pPr>
            <a:r>
              <a:rPr sz="1300">
                <a:solidFill>
                  <a:srgbClr val="241B33"/>
                </a:solidFill>
                <a:latin typeface="Calibri"/>
              </a:rPr>
              <a:t>Credentials verified through AuthenticationController against PBKDF2WithHmacSHA256-hashed passwords (65,536 iterations, random salt) stored in MySQL</a:t>
            </a:r>
          </a:p>
          <a:p>
            <a:pPr marL="228600" indent="-228600">
              <a:spcBef>
                <a:spcPts val="1000"/>
              </a:spcBef>
              <a:buFont typeface="Arial"/>
              <a:buChar char="●"/>
            </a:pPr>
            <a:r>
              <a:rPr sz="1300">
                <a:solidFill>
                  <a:srgbClr val="241B33"/>
                </a:solidFill>
                <a:latin typeface="Calibri"/>
              </a:rPr>
              <a:t>A successful login routes the user to the dashboard matching their role — Admin, Trainer, Receptionist, or Member</a:t>
            </a:r>
          </a:p>
          <a:p>
            <a:pPr marL="228600" indent="-228600">
              <a:spcBef>
                <a:spcPts val="1000"/>
              </a:spcBef>
              <a:buFont typeface="Arial"/>
              <a:buChar char="●"/>
            </a:pPr>
            <a:r>
              <a:rPr sz="1300">
                <a:solidFill>
                  <a:srgbClr val="241B33"/>
                </a:solidFill>
                <a:latin typeface="Calibri"/>
              </a:rPr>
              <a:t>Five consecutive failed attempts trigger a 15-minute account lockout, per SRS 4.2 Robustness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100" b="1" spc="200">
                <a:solidFill>
                  <a:srgbClr val="5E2CA5"/>
                </a:solidFill>
                <a:latin typeface="Calibri"/>
              </a:rPr>
              <a:t>APPLICATION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3000" b="1">
                <a:solidFill>
                  <a:srgbClr val="241B33"/>
                </a:solidFill>
                <a:latin typeface="Cambria"/>
              </a:rPr>
              <a:t>Core Feature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45738" cy="2528316"/>
          </a:xfrm>
          <a:prstGeom prst="roundRect">
            <a:avLst>
              <a:gd name="adj" fmla="val 4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t_manage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645920"/>
            <a:ext cx="3271418" cy="2016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753612"/>
            <a:ext cx="354573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5E2CA5"/>
                </a:solidFill>
                <a:latin typeface="Calibri"/>
              </a:rPr>
              <a:t>MANAGE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08760"/>
            <a:ext cx="3545738" cy="2528316"/>
          </a:xfrm>
          <a:prstGeom prst="roundRect">
            <a:avLst>
              <a:gd name="adj" fmla="val 4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membership_pl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856" y="1645920"/>
            <a:ext cx="2711982" cy="20345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2978" y="3753612"/>
            <a:ext cx="354573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5E2CA5"/>
                </a:solidFill>
                <a:latin typeface="Calibri"/>
              </a:rPr>
              <a:t>MEMBERSHIP PLANS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508760"/>
            <a:ext cx="3545738" cy="2528316"/>
          </a:xfrm>
          <a:prstGeom prst="roundRect">
            <a:avLst>
              <a:gd name="adj" fmla="val 4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_manage_memb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76" y="1645920"/>
            <a:ext cx="3271418" cy="19087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7316" y="3753612"/>
            <a:ext cx="354573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5E2CA5"/>
                </a:solidFill>
                <a:latin typeface="Calibri"/>
              </a:rPr>
              <a:t>MANAGE MEMBERS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528316"/>
          </a:xfrm>
          <a:prstGeom prst="roundRect">
            <a:avLst>
              <a:gd name="adj" fmla="val 4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t_register_me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449" y="4229100"/>
            <a:ext cx="2152119" cy="20345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336792"/>
            <a:ext cx="354573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5E2CA5"/>
                </a:solidFill>
                <a:latin typeface="Calibri"/>
              </a:rPr>
              <a:t>REGISTER 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528316"/>
          </a:xfrm>
          <a:prstGeom prst="roundRect">
            <a:avLst>
              <a:gd name="adj" fmla="val 4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ot_re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012" y="4229100"/>
            <a:ext cx="2545670" cy="20345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22978" y="6336792"/>
            <a:ext cx="354573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5E2CA5"/>
                </a:solidFill>
                <a:latin typeface="Calibri"/>
              </a:rPr>
              <a:t>OPERATIONAL REPORTS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91939"/>
            <a:ext cx="3545738" cy="2528316"/>
          </a:xfrm>
          <a:prstGeom prst="roundRect">
            <a:avLst>
              <a:gd name="adj" fmla="val 4000"/>
            </a:avLst>
          </a:prstGeom>
          <a:solidFill>
            <a:srgbClr val="F4F0FB"/>
          </a:solidFill>
          <a:ln>
            <a:noFill/>
          </a:ln>
          <a:effectLst>
            <a:outerShdw sx="100000" sy="100000" kx="0" ky="0" algn="bl" rotWithShape="0" blurRad="76200" dist="25400" dir="5400000">
              <a:srgbClr val="8A78A8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hot_payments_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902" y="4229100"/>
            <a:ext cx="3194567" cy="20345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7316" y="6336792"/>
            <a:ext cx="354573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5E2CA5"/>
                </a:solidFill>
                <a:latin typeface="Calibri"/>
              </a:rPr>
              <a:t>PAYMENT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2026-07-30T17:50:27Z</dcterms:created>
  <dcterms:modified xsi:type="dcterms:W3CDTF">2026-07-30T17:50:27Z</dcterms:modified>
</cp:coreProperties>
</file>