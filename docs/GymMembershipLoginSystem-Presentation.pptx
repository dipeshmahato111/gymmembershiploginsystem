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B1E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18608" y="1188720"/>
            <a:ext cx="1554480" cy="1554480"/>
          </a:xfrm>
          <a:prstGeom prst="ellipse">
            <a:avLst/>
          </a:prstGeom>
          <a:solidFill>
            <a:srgbClr val="F2B705"/>
          </a:solidFill>
          <a:ln w="972">
            <a:solidFill>
              <a:srgbClr val="3B1E6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784952" y="1888236"/>
            <a:ext cx="621792" cy="155448"/>
          </a:xfrm>
          <a:prstGeom prst="roundRect">
            <a:avLst>
              <a:gd name="adj" fmla="val 50000"/>
            </a:avLst>
          </a:prstGeom>
          <a:solidFill>
            <a:srgbClr val="3B1E63"/>
          </a:solidFill>
          <a:ln/>
        </p:spPr>
      </p:sp>
      <p:sp>
        <p:nvSpPr>
          <p:cNvPr id="4" name="Shape 2"/>
          <p:cNvSpPr/>
          <p:nvPr/>
        </p:nvSpPr>
        <p:spPr>
          <a:xfrm>
            <a:off x="5551780" y="1608430"/>
            <a:ext cx="170993" cy="715061"/>
          </a:xfrm>
          <a:prstGeom prst="roundRect">
            <a:avLst>
              <a:gd name="adj" fmla="val 16043"/>
            </a:avLst>
          </a:prstGeom>
          <a:solidFill>
            <a:srgbClr val="3B1E63"/>
          </a:solidFill>
          <a:ln/>
        </p:spPr>
      </p:sp>
      <p:sp>
        <p:nvSpPr>
          <p:cNvPr id="5" name="Shape 3"/>
          <p:cNvSpPr/>
          <p:nvPr/>
        </p:nvSpPr>
        <p:spPr>
          <a:xfrm>
            <a:off x="5753862" y="1732788"/>
            <a:ext cx="170993" cy="466344"/>
          </a:xfrm>
          <a:prstGeom prst="roundRect">
            <a:avLst>
              <a:gd name="adj" fmla="val 16043"/>
            </a:avLst>
          </a:prstGeom>
          <a:solidFill>
            <a:srgbClr val="3B1E63"/>
          </a:solidFill>
          <a:ln/>
        </p:spPr>
      </p:sp>
      <p:sp>
        <p:nvSpPr>
          <p:cNvPr id="6" name="Shape 4"/>
          <p:cNvSpPr/>
          <p:nvPr/>
        </p:nvSpPr>
        <p:spPr>
          <a:xfrm>
            <a:off x="6266840" y="1732788"/>
            <a:ext cx="170993" cy="466344"/>
          </a:xfrm>
          <a:prstGeom prst="roundRect">
            <a:avLst>
              <a:gd name="adj" fmla="val 16043"/>
            </a:avLst>
          </a:prstGeom>
          <a:solidFill>
            <a:srgbClr val="3B1E63"/>
          </a:solidFill>
          <a:ln/>
        </p:spPr>
      </p:sp>
      <p:sp>
        <p:nvSpPr>
          <p:cNvPr id="7" name="Shape 5"/>
          <p:cNvSpPr/>
          <p:nvPr/>
        </p:nvSpPr>
        <p:spPr>
          <a:xfrm>
            <a:off x="6468923" y="1608430"/>
            <a:ext cx="170993" cy="715061"/>
          </a:xfrm>
          <a:prstGeom prst="roundRect">
            <a:avLst>
              <a:gd name="adj" fmla="val 16043"/>
            </a:avLst>
          </a:prstGeom>
          <a:solidFill>
            <a:srgbClr val="3B1E63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3063240"/>
            <a:ext cx="107286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Gym Membership Login System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731520" y="3840480"/>
            <a:ext cx="107286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9B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4398  •  Software Engineering Project  •  Fall 2026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" y="4343400"/>
            <a:ext cx="107286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Dipesh Mahato   •   Andrew Lee   •   Dalton Lyon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31520" y="6126480"/>
            <a:ext cx="107286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9B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github.com/dipeshmahato111/GymMembershipLoginSystem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E2C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1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Purpose &amp; Scope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4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centralized system that replaces manual, paper-based gym operations with a secure, role-based digital workflow — covering membership, attendance, classes, and payments.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5364328" cy="3977640"/>
          </a:xfrm>
          <a:prstGeom prst="roundRect">
            <a:avLst>
              <a:gd name="adj" fmla="val 2069"/>
            </a:avLst>
          </a:prstGeom>
          <a:solidFill>
            <a:srgbClr val="F4F0FB"/>
          </a:solidFill>
          <a:ln/>
          <a:effectLst>
            <a:outerShdw sx="100000" sy="100000" kx="0" ky="0" algn="bl" rotWithShape="0" blurRad="76200" dist="25400" dir="5400000">
              <a:srgbClr val="8A78A8">
                <a:alpha val="2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278728" y="2148840"/>
            <a:ext cx="5364328" cy="3977640"/>
          </a:xfrm>
          <a:prstGeom prst="roundRect">
            <a:avLst>
              <a:gd name="adj" fmla="val 2069"/>
            </a:avLst>
          </a:prstGeom>
          <a:solidFill>
            <a:srgbClr val="F4F0FB"/>
          </a:solidFill>
          <a:ln/>
          <a:effectLst>
            <a:outerShdw sx="100000" sy="100000" kx="0" ky="0" algn="bl" rotWithShape="0" blurRad="76200" dist="25400" dir="5400000">
              <a:srgbClr val="8A78A8">
                <a:alpha val="2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22960" y="2377440"/>
            <a:ext cx="48156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E2C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SCOPE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22960" y="2788920"/>
            <a:ext cx="4815688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24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management &amp; multi-tier authentication (Admin / Trainer / Receptionist / Member)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24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Membership creation, renewal, and suspension across pricing tiers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24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check-in / check-out tracking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24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Fitness class scheduling and booking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24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Membership payment processing &amp; receipts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553048" y="2377440"/>
            <a:ext cx="48156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 SCOPE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553048" y="2788920"/>
            <a:ext cx="4815688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○"/>
            </a:pPr>
            <a:r>
              <a:rPr lang="en-US" sz="1300" dirty="0">
                <a:solidFill>
                  <a:srgbClr val="24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physical hardware control (turnstiles, RFID readers) — the system issues software approval signals only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○"/>
            </a:pPr>
            <a:r>
              <a:rPr lang="en-US" sz="1300" dirty="0">
                <a:solidFill>
                  <a:srgbClr val="24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Full-scale accounting / payroll — transactions are logged, not a QuickBooks replacement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○"/>
            </a:pPr>
            <a:r>
              <a:rPr lang="en-US" sz="1300" dirty="0">
                <a:solidFill>
                  <a:srgbClr val="24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live third-party payment gateway (simulated for this class project)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E2C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DESIGN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1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Layered Architecture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377440"/>
            <a:ext cx="2396414" cy="1371600"/>
          </a:xfrm>
          <a:prstGeom prst="roundRect">
            <a:avLst>
              <a:gd name="adj" fmla="val 5333"/>
            </a:avLst>
          </a:prstGeom>
          <a:solidFill>
            <a:srgbClr val="5E2CA5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2542032"/>
            <a:ext cx="23964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view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85800" y="2944368"/>
            <a:ext cx="212209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Swing UI — LoginFrame, role dashboards, feature dialogs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999918" y="2980944"/>
            <a:ext cx="393192" cy="164592"/>
          </a:xfrm>
          <a:prstGeom prst="rightArrow">
            <a:avLst/>
          </a:prstGeom>
          <a:solidFill>
            <a:srgbClr val="C9B8E8"/>
          </a:solidFill>
          <a:ln/>
        </p:spPr>
      </p:sp>
      <p:sp>
        <p:nvSpPr>
          <p:cNvPr id="8" name="Shape 6"/>
          <p:cNvSpPr/>
          <p:nvPr/>
        </p:nvSpPr>
        <p:spPr>
          <a:xfrm>
            <a:off x="3447974" y="2377440"/>
            <a:ext cx="2396414" cy="1371600"/>
          </a:xfrm>
          <a:prstGeom prst="roundRect">
            <a:avLst>
              <a:gd name="adj" fmla="val 5333"/>
            </a:avLst>
          </a:prstGeom>
          <a:solidFill>
            <a:srgbClr val="5E2CA5"/>
          </a:solidFill>
          <a:ln/>
        </p:spPr>
      </p:sp>
      <p:sp>
        <p:nvSpPr>
          <p:cNvPr id="9" name="Text 7"/>
          <p:cNvSpPr/>
          <p:nvPr/>
        </p:nvSpPr>
        <p:spPr>
          <a:xfrm>
            <a:off x="3447974" y="2542032"/>
            <a:ext cx="23964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controller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585134" y="2944368"/>
            <a:ext cx="212209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logic &amp; validation — one per use case area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899252" y="2980944"/>
            <a:ext cx="393192" cy="164592"/>
          </a:xfrm>
          <a:prstGeom prst="rightArrow">
            <a:avLst/>
          </a:prstGeom>
          <a:solidFill>
            <a:srgbClr val="C9B8E8"/>
          </a:solidFill>
          <a:ln/>
        </p:spPr>
      </p:sp>
      <p:sp>
        <p:nvSpPr>
          <p:cNvPr id="12" name="Shape 10"/>
          <p:cNvSpPr/>
          <p:nvPr/>
        </p:nvSpPr>
        <p:spPr>
          <a:xfrm>
            <a:off x="6347308" y="2377440"/>
            <a:ext cx="2396414" cy="1371600"/>
          </a:xfrm>
          <a:prstGeom prst="roundRect">
            <a:avLst>
              <a:gd name="adj" fmla="val 5333"/>
            </a:avLst>
          </a:prstGeom>
          <a:solidFill>
            <a:srgbClr val="5E2CA5"/>
          </a:solidFill>
          <a:ln/>
        </p:spPr>
      </p:sp>
      <p:sp>
        <p:nvSpPr>
          <p:cNvPr id="13" name="Text 11"/>
          <p:cNvSpPr/>
          <p:nvPr/>
        </p:nvSpPr>
        <p:spPr>
          <a:xfrm>
            <a:off x="6347308" y="2542032"/>
            <a:ext cx="23964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database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484468" y="2944368"/>
            <a:ext cx="212209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DAOs — parameterized SQL over JDBC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798585" y="2980944"/>
            <a:ext cx="393192" cy="164592"/>
          </a:xfrm>
          <a:prstGeom prst="rightArrow">
            <a:avLst/>
          </a:prstGeom>
          <a:solidFill>
            <a:srgbClr val="C9B8E8"/>
          </a:solidFill>
          <a:ln/>
        </p:spPr>
      </p:sp>
      <p:sp>
        <p:nvSpPr>
          <p:cNvPr id="16" name="Shape 14"/>
          <p:cNvSpPr/>
          <p:nvPr/>
        </p:nvSpPr>
        <p:spPr>
          <a:xfrm>
            <a:off x="9246641" y="2377440"/>
            <a:ext cx="2396414" cy="1371600"/>
          </a:xfrm>
          <a:prstGeom prst="roundRect">
            <a:avLst>
              <a:gd name="adj" fmla="val 5333"/>
            </a:avLst>
          </a:prstGeom>
          <a:solidFill>
            <a:srgbClr val="3B1E63"/>
          </a:solidFill>
          <a:ln/>
        </p:spPr>
      </p:sp>
      <p:sp>
        <p:nvSpPr>
          <p:cNvPr id="17" name="Text 15"/>
          <p:cNvSpPr/>
          <p:nvPr/>
        </p:nvSpPr>
        <p:spPr>
          <a:xfrm>
            <a:off x="9246641" y="2542032"/>
            <a:ext cx="23964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MySQL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383801" y="2944368"/>
            <a:ext cx="212209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gym_management relational database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447974" y="4343400"/>
            <a:ext cx="2396414" cy="822960"/>
          </a:xfrm>
          <a:prstGeom prst="roundRect">
            <a:avLst>
              <a:gd name="adj" fmla="val 8889"/>
            </a:avLst>
          </a:prstGeom>
          <a:solidFill>
            <a:srgbClr val="F4F0FB"/>
          </a:solidFill>
          <a:ln w="12700">
            <a:solidFill>
              <a:srgbClr val="C9B8E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447974" y="4434840"/>
            <a:ext cx="239641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B1E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3539414" y="4736592"/>
            <a:ext cx="221353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data classes shared across layers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646181" y="3749040"/>
            <a:ext cx="0" cy="594360"/>
          </a:xfrm>
          <a:prstGeom prst="line">
            <a:avLst/>
          </a:prstGeom>
          <a:noFill/>
          <a:ln w="19050">
            <a:solidFill>
              <a:srgbClr val="C9B8E8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48640" y="598932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Views never touch the database directly — every screen calls a controller, which returns a Result/AuthResult so validation logic stays testable independent of the GUI (see test/controller).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E2C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ROLE-BASED ACCESS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1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User Roles, One Consistent UI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64328" cy="1783080"/>
          </a:xfrm>
          <a:prstGeom prst="roundRect">
            <a:avLst>
              <a:gd name="adj" fmla="val 4615"/>
            </a:avLst>
          </a:prstGeom>
          <a:solidFill>
            <a:srgbClr val="F4F0FB"/>
          </a:solidFill>
          <a:ln/>
          <a:effectLst>
            <a:outerShdw sx="100000" sy="100000" kx="0" ky="0" algn="bl" rotWithShape="0" blurRad="76200" dist="25400" dir="5400000">
              <a:srgbClr val="8A78A8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2057400"/>
            <a:ext cx="777240" cy="777240"/>
          </a:xfrm>
          <a:prstGeom prst="ellipse">
            <a:avLst/>
          </a:prstGeom>
          <a:solidFill>
            <a:srgbClr val="F2B705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039112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B1E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783080" y="1810512"/>
            <a:ext cx="3901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41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Administrator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783080" y="2212848"/>
            <a:ext cx="39012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system control: manage users, configure membership pricing, generate reports.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78728" y="1554480"/>
            <a:ext cx="5364328" cy="1783080"/>
          </a:xfrm>
          <a:prstGeom prst="roundRect">
            <a:avLst>
              <a:gd name="adj" fmla="val 4615"/>
            </a:avLst>
          </a:prstGeom>
          <a:solidFill>
            <a:srgbClr val="F4F0FB"/>
          </a:solidFill>
          <a:ln/>
          <a:effectLst>
            <a:outerShdw sx="100000" sy="100000" kx="0" ky="0" algn="bl" rotWithShape="0" blurRad="76200" dist="25400" dir="5400000">
              <a:srgbClr val="8A78A8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53048" y="2057400"/>
            <a:ext cx="777240" cy="777240"/>
          </a:xfrm>
          <a:prstGeom prst="ellipse">
            <a:avLst/>
          </a:prstGeom>
          <a:solidFill>
            <a:srgbClr val="F2B705"/>
          </a:solidFill>
          <a:ln/>
        </p:spPr>
      </p:sp>
      <p:sp>
        <p:nvSpPr>
          <p:cNvPr id="11" name="Text 9"/>
          <p:cNvSpPr/>
          <p:nvPr/>
        </p:nvSpPr>
        <p:spPr>
          <a:xfrm>
            <a:off x="6553048" y="2039112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B1E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7513168" y="1810512"/>
            <a:ext cx="3901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41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Trainer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513168" y="2212848"/>
            <a:ext cx="39012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Schedules fitness classes and views class rosters.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3703320"/>
            <a:ext cx="5364328" cy="1783080"/>
          </a:xfrm>
          <a:prstGeom prst="roundRect">
            <a:avLst>
              <a:gd name="adj" fmla="val 4615"/>
            </a:avLst>
          </a:prstGeom>
          <a:solidFill>
            <a:srgbClr val="F4F0FB"/>
          </a:solidFill>
          <a:ln/>
          <a:effectLst>
            <a:outerShdw sx="100000" sy="100000" kx="0" ky="0" algn="bl" rotWithShape="0" blurRad="76200" dist="25400" dir="5400000">
              <a:srgbClr val="8A78A8">
                <a:alpha val="2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22960" y="4206240"/>
            <a:ext cx="777240" cy="777240"/>
          </a:xfrm>
          <a:prstGeom prst="ellipse">
            <a:avLst/>
          </a:prstGeom>
          <a:solidFill>
            <a:srgbClr val="F2B705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4187952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B1E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783080" y="3959352"/>
            <a:ext cx="3901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41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Receptionist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783080" y="4361688"/>
            <a:ext cx="39012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Registers members, checks members in, and processes payments.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278728" y="3703320"/>
            <a:ext cx="5364328" cy="1783080"/>
          </a:xfrm>
          <a:prstGeom prst="roundRect">
            <a:avLst>
              <a:gd name="adj" fmla="val 4615"/>
            </a:avLst>
          </a:prstGeom>
          <a:solidFill>
            <a:srgbClr val="F4F0FB"/>
          </a:solidFill>
          <a:ln/>
          <a:effectLst>
            <a:outerShdw sx="100000" sy="100000" kx="0" ky="0" algn="bl" rotWithShape="0" blurRad="76200" dist="25400" dir="5400000">
              <a:srgbClr val="8A78A8">
                <a:alpha val="2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553048" y="4206240"/>
            <a:ext cx="777240" cy="777240"/>
          </a:xfrm>
          <a:prstGeom prst="ellipse">
            <a:avLst/>
          </a:prstGeom>
          <a:solidFill>
            <a:srgbClr val="F2B705"/>
          </a:solidFill>
          <a:ln/>
        </p:spPr>
      </p:sp>
      <p:sp>
        <p:nvSpPr>
          <p:cNvPr id="21" name="Text 19"/>
          <p:cNvSpPr/>
          <p:nvPr/>
        </p:nvSpPr>
        <p:spPr>
          <a:xfrm>
            <a:off x="6553048" y="4187952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B1E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7513168" y="3959352"/>
            <a:ext cx="3901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41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Member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513168" y="4361688"/>
            <a:ext cx="39012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Views membership status, books classes, checks in, tracks attendance history.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E2C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— UML CLASS DIAGRAM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1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 Structure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44288" y="1417320"/>
            <a:ext cx="2103120" cy="658368"/>
          </a:xfrm>
          <a:prstGeom prst="roundRect">
            <a:avLst>
              <a:gd name="adj" fmla="val 8333"/>
            </a:avLst>
          </a:prstGeom>
          <a:solidFill>
            <a:srgbClr val="3B1E63"/>
          </a:solidFill>
          <a:ln/>
        </p:spPr>
      </p:sp>
      <p:sp>
        <p:nvSpPr>
          <p:cNvPr id="5" name="Text 3"/>
          <p:cNvSpPr/>
          <p:nvPr/>
        </p:nvSpPr>
        <p:spPr>
          <a:xfrm>
            <a:off x="5135728" y="14813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«abstract» User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135728" y="17373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id, name, email, passwordHash, role, status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095848" y="2075688"/>
            <a:ext cx="0" cy="292608"/>
          </a:xfrm>
          <a:prstGeom prst="line">
            <a:avLst/>
          </a:prstGeom>
          <a:noFill/>
          <a:ln w="19050">
            <a:solidFill>
              <a:srgbClr val="C9B8E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131924" y="2368296"/>
            <a:ext cx="7927848" cy="0"/>
          </a:xfrm>
          <a:prstGeom prst="line">
            <a:avLst/>
          </a:prstGeom>
          <a:noFill/>
          <a:ln w="19050">
            <a:solidFill>
              <a:srgbClr val="C9B8E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131924" y="2368296"/>
            <a:ext cx="0" cy="329184"/>
          </a:xfrm>
          <a:prstGeom prst="line">
            <a:avLst/>
          </a:prstGeom>
          <a:noFill/>
          <a:ln w="19050">
            <a:solidFill>
              <a:srgbClr val="C9B8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774540" y="2368296"/>
            <a:ext cx="0" cy="329184"/>
          </a:xfrm>
          <a:prstGeom prst="line">
            <a:avLst/>
          </a:prstGeom>
          <a:noFill/>
          <a:ln w="19050">
            <a:solidFill>
              <a:srgbClr val="C9B8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417156" y="2368296"/>
            <a:ext cx="0" cy="329184"/>
          </a:xfrm>
          <a:prstGeom prst="line">
            <a:avLst/>
          </a:prstGeom>
          <a:noFill/>
          <a:ln w="19050">
            <a:solidFill>
              <a:srgbClr val="C9B8E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059772" y="2368296"/>
            <a:ext cx="0" cy="329184"/>
          </a:xfrm>
          <a:prstGeom prst="line">
            <a:avLst/>
          </a:prstGeom>
          <a:noFill/>
          <a:ln w="19050">
            <a:solidFill>
              <a:srgbClr val="C9B8E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66064" y="2697480"/>
            <a:ext cx="2331720" cy="621792"/>
          </a:xfrm>
          <a:prstGeom prst="roundRect">
            <a:avLst>
              <a:gd name="adj" fmla="val 8824"/>
            </a:avLst>
          </a:prstGeom>
          <a:solidFill>
            <a:srgbClr val="5E2CA5"/>
          </a:solidFill>
          <a:ln/>
        </p:spPr>
      </p:sp>
      <p:sp>
        <p:nvSpPr>
          <p:cNvPr id="14" name="Text 12"/>
          <p:cNvSpPr/>
          <p:nvPr/>
        </p:nvSpPr>
        <p:spPr>
          <a:xfrm>
            <a:off x="1057504" y="2761488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Administrator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57504" y="3017520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adminLevel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608680" y="2697480"/>
            <a:ext cx="2331720" cy="621792"/>
          </a:xfrm>
          <a:prstGeom prst="roundRect">
            <a:avLst>
              <a:gd name="adj" fmla="val 8824"/>
            </a:avLst>
          </a:prstGeom>
          <a:solidFill>
            <a:srgbClr val="5E2CA5"/>
          </a:solidFill>
          <a:ln/>
        </p:spPr>
      </p:sp>
      <p:sp>
        <p:nvSpPr>
          <p:cNvPr id="17" name="Text 15"/>
          <p:cNvSpPr/>
          <p:nvPr/>
        </p:nvSpPr>
        <p:spPr>
          <a:xfrm>
            <a:off x="3700120" y="2761488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Trainer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700120" y="3017520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trainerId, specialization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251296" y="2697480"/>
            <a:ext cx="2331720" cy="621792"/>
          </a:xfrm>
          <a:prstGeom prst="roundRect">
            <a:avLst>
              <a:gd name="adj" fmla="val 8824"/>
            </a:avLst>
          </a:prstGeom>
          <a:solidFill>
            <a:srgbClr val="5E2CA5"/>
          </a:solidFill>
          <a:ln/>
        </p:spPr>
      </p:sp>
      <p:sp>
        <p:nvSpPr>
          <p:cNvPr id="20" name="Text 18"/>
          <p:cNvSpPr/>
          <p:nvPr/>
        </p:nvSpPr>
        <p:spPr>
          <a:xfrm>
            <a:off x="6342736" y="2761488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Receptionist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342736" y="3017520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shift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8893912" y="2697480"/>
            <a:ext cx="2331720" cy="621792"/>
          </a:xfrm>
          <a:prstGeom prst="roundRect">
            <a:avLst>
              <a:gd name="adj" fmla="val 8824"/>
            </a:avLst>
          </a:prstGeom>
          <a:solidFill>
            <a:srgbClr val="5E2CA5"/>
          </a:solidFill>
          <a:ln/>
        </p:spPr>
      </p:sp>
      <p:sp>
        <p:nvSpPr>
          <p:cNvPr id="23" name="Text 21"/>
          <p:cNvSpPr/>
          <p:nvPr/>
        </p:nvSpPr>
        <p:spPr>
          <a:xfrm>
            <a:off x="8985352" y="2761488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Member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985352" y="3017520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joinDate, status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774540" y="3319272"/>
            <a:ext cx="0" cy="813816"/>
          </a:xfrm>
          <a:prstGeom prst="line">
            <a:avLst/>
          </a:prstGeom>
          <a:noFill/>
          <a:ln w="19050">
            <a:solidFill>
              <a:srgbClr val="F2B70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560424" y="4133088"/>
            <a:ext cx="3214116" cy="0"/>
          </a:xfrm>
          <a:prstGeom prst="line">
            <a:avLst/>
          </a:prstGeom>
          <a:noFill/>
          <a:ln w="19050">
            <a:solidFill>
              <a:srgbClr val="F2B70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560424" y="4133088"/>
            <a:ext cx="0" cy="146304"/>
          </a:xfrm>
          <a:prstGeom prst="line">
            <a:avLst/>
          </a:prstGeom>
          <a:noFill/>
          <a:ln w="19050">
            <a:solidFill>
              <a:srgbClr val="F2B70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54584" y="3858768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6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teaches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554584" y="4279392"/>
            <a:ext cx="2011680" cy="658368"/>
          </a:xfrm>
          <a:prstGeom prst="roundRect">
            <a:avLst>
              <a:gd name="adj" fmla="val 8333"/>
            </a:avLst>
          </a:prstGeom>
          <a:solidFill>
            <a:srgbClr val="F4F0FB"/>
          </a:solidFill>
          <a:ln/>
        </p:spPr>
      </p:sp>
      <p:sp>
        <p:nvSpPr>
          <p:cNvPr id="30" name="Text 28"/>
          <p:cNvSpPr/>
          <p:nvPr/>
        </p:nvSpPr>
        <p:spPr>
          <a:xfrm>
            <a:off x="646024" y="434340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B1E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FitnessClass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46024" y="459943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B1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className, schedule, capacity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10059772" y="3319272"/>
            <a:ext cx="0" cy="813816"/>
          </a:xfrm>
          <a:prstGeom prst="line">
            <a:avLst/>
          </a:prstGeom>
          <a:noFill/>
          <a:ln w="19050">
            <a:solidFill>
              <a:srgbClr val="F2B70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828136" y="4133088"/>
            <a:ext cx="6231636" cy="0"/>
          </a:xfrm>
          <a:prstGeom prst="line">
            <a:avLst/>
          </a:prstGeom>
          <a:noFill/>
          <a:ln w="19050">
            <a:solidFill>
              <a:srgbClr val="F2B70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828136" y="4133088"/>
            <a:ext cx="0" cy="146304"/>
          </a:xfrm>
          <a:prstGeom prst="line">
            <a:avLst/>
          </a:prstGeom>
          <a:noFill/>
          <a:ln w="19050">
            <a:solidFill>
              <a:srgbClr val="F2B70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822296" y="3858768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6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owns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2822296" y="4279392"/>
            <a:ext cx="2011680" cy="658368"/>
          </a:xfrm>
          <a:prstGeom prst="roundRect">
            <a:avLst>
              <a:gd name="adj" fmla="val 8333"/>
            </a:avLst>
          </a:prstGeom>
          <a:solidFill>
            <a:srgbClr val="F4F0FB"/>
          </a:solidFill>
          <a:ln/>
        </p:spPr>
      </p:sp>
      <p:sp>
        <p:nvSpPr>
          <p:cNvPr id="37" name="Text 35"/>
          <p:cNvSpPr/>
          <p:nvPr/>
        </p:nvSpPr>
        <p:spPr>
          <a:xfrm>
            <a:off x="2913736" y="434340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B1E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Membership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2913736" y="459943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B1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tier, price, dates, status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090008" y="4279392"/>
            <a:ext cx="2011680" cy="658368"/>
          </a:xfrm>
          <a:prstGeom prst="roundRect">
            <a:avLst>
              <a:gd name="adj" fmla="val 8333"/>
            </a:avLst>
          </a:prstGeom>
          <a:solidFill>
            <a:srgbClr val="F4F0FB"/>
          </a:solidFill>
          <a:ln/>
        </p:spPr>
      </p:sp>
      <p:sp>
        <p:nvSpPr>
          <p:cNvPr id="40" name="Text 38"/>
          <p:cNvSpPr/>
          <p:nvPr/>
        </p:nvSpPr>
        <p:spPr>
          <a:xfrm>
            <a:off x="5181448" y="434340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B1E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Payment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5181448" y="459943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B1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amount, method, status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10059772" y="3319272"/>
            <a:ext cx="0" cy="813816"/>
          </a:xfrm>
          <a:prstGeom prst="line">
            <a:avLst/>
          </a:prstGeom>
          <a:noFill/>
          <a:ln w="19050">
            <a:solidFill>
              <a:srgbClr val="F2B705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363560" y="4133088"/>
            <a:ext cx="1696212" cy="0"/>
          </a:xfrm>
          <a:prstGeom prst="line">
            <a:avLst/>
          </a:prstGeom>
          <a:noFill/>
          <a:ln w="19050">
            <a:solidFill>
              <a:srgbClr val="F2B705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363560" y="4133088"/>
            <a:ext cx="0" cy="146304"/>
          </a:xfrm>
          <a:prstGeom prst="line">
            <a:avLst/>
          </a:prstGeom>
          <a:noFill/>
          <a:ln w="19050">
            <a:solidFill>
              <a:srgbClr val="F2B705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357720" y="3858768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6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7357720" y="4279392"/>
            <a:ext cx="2011680" cy="658368"/>
          </a:xfrm>
          <a:prstGeom prst="roundRect">
            <a:avLst>
              <a:gd name="adj" fmla="val 8333"/>
            </a:avLst>
          </a:prstGeom>
          <a:solidFill>
            <a:srgbClr val="F4F0FB"/>
          </a:solidFill>
          <a:ln/>
        </p:spPr>
      </p:sp>
      <p:sp>
        <p:nvSpPr>
          <p:cNvPr id="47" name="Text 45"/>
          <p:cNvSpPr/>
          <p:nvPr/>
        </p:nvSpPr>
        <p:spPr>
          <a:xfrm>
            <a:off x="7449160" y="434340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B1E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Attendance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7449160" y="459943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B1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checkInTime, checkOutTime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10059772" y="3319272"/>
            <a:ext cx="0" cy="813816"/>
          </a:xfrm>
          <a:prstGeom prst="line">
            <a:avLst/>
          </a:prstGeom>
          <a:noFill/>
          <a:ln w="19050">
            <a:solidFill>
              <a:srgbClr val="F2B705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10059772" y="4133088"/>
            <a:ext cx="571500" cy="0"/>
          </a:xfrm>
          <a:prstGeom prst="line">
            <a:avLst/>
          </a:prstGeom>
          <a:noFill/>
          <a:ln w="19050">
            <a:solidFill>
              <a:srgbClr val="F2B705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10631272" y="4133088"/>
            <a:ext cx="0" cy="146304"/>
          </a:xfrm>
          <a:prstGeom prst="line">
            <a:avLst/>
          </a:prstGeom>
          <a:noFill/>
          <a:ln w="19050">
            <a:solidFill>
              <a:srgbClr val="F2B705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9625432" y="3858768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6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creates</a:t>
            </a:r>
            <a:endParaRPr lang="en-US" sz="850" dirty="0"/>
          </a:p>
        </p:txBody>
      </p:sp>
      <p:sp>
        <p:nvSpPr>
          <p:cNvPr id="53" name="Shape 51"/>
          <p:cNvSpPr/>
          <p:nvPr/>
        </p:nvSpPr>
        <p:spPr>
          <a:xfrm>
            <a:off x="9625432" y="4279392"/>
            <a:ext cx="2011680" cy="658368"/>
          </a:xfrm>
          <a:prstGeom prst="roundRect">
            <a:avLst>
              <a:gd name="adj" fmla="val 8333"/>
            </a:avLst>
          </a:prstGeom>
          <a:solidFill>
            <a:srgbClr val="F4F0FB"/>
          </a:solidFill>
          <a:ln/>
        </p:spPr>
      </p:sp>
      <p:sp>
        <p:nvSpPr>
          <p:cNvPr id="54" name="Text 52"/>
          <p:cNvSpPr/>
          <p:nvPr/>
        </p:nvSpPr>
        <p:spPr>
          <a:xfrm>
            <a:off x="9716872" y="434340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B1E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Booking</a:t>
            </a:r>
            <a:endParaRPr lang="en-US" sz="1200" dirty="0"/>
          </a:p>
        </p:txBody>
      </p:sp>
      <p:sp>
        <p:nvSpPr>
          <p:cNvPr id="55" name="Text 53"/>
          <p:cNvSpPr/>
          <p:nvPr/>
        </p:nvSpPr>
        <p:spPr>
          <a:xfrm>
            <a:off x="9716872" y="459943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B1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classId, date, status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833976" y="4608576"/>
            <a:ext cx="256032" cy="0"/>
          </a:xfrm>
          <a:prstGeom prst="line">
            <a:avLst/>
          </a:prstGeom>
          <a:noFill/>
          <a:ln w="19050">
            <a:solidFill>
              <a:srgbClr val="C9B8E8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276192" y="4992624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6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generates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E2C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1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Statechart — Membership Lifecycle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22960" y="2743200"/>
            <a:ext cx="2103120" cy="914400"/>
          </a:xfrm>
          <a:prstGeom prst="roundRect">
            <a:avLst>
              <a:gd name="adj" fmla="val 50000"/>
            </a:avLst>
          </a:prstGeom>
          <a:solidFill>
            <a:srgbClr val="5E2CA5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274320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ACTIVE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044288" y="2743200"/>
            <a:ext cx="2103120" cy="914400"/>
          </a:xfrm>
          <a:prstGeom prst="roundRect">
            <a:avLst>
              <a:gd name="adj" fmla="val 50000"/>
            </a:avLst>
          </a:prstGeom>
          <a:solidFill>
            <a:srgbClr val="6B6280"/>
          </a:solidFill>
          <a:ln/>
        </p:spPr>
      </p:sp>
      <p:sp>
        <p:nvSpPr>
          <p:cNvPr id="7" name="Text 5"/>
          <p:cNvSpPr/>
          <p:nvPr/>
        </p:nvSpPr>
        <p:spPr>
          <a:xfrm>
            <a:off x="5044288" y="274320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EXPIRED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9265615" y="2743200"/>
            <a:ext cx="2103120" cy="914400"/>
          </a:xfrm>
          <a:prstGeom prst="roundRect">
            <a:avLst>
              <a:gd name="adj" fmla="val 50000"/>
            </a:avLst>
          </a:prstGeom>
          <a:solidFill>
            <a:srgbClr val="3B1E63"/>
          </a:solidFill>
          <a:ln/>
        </p:spPr>
      </p:sp>
      <p:sp>
        <p:nvSpPr>
          <p:cNvPr id="9" name="Text 7"/>
          <p:cNvSpPr/>
          <p:nvPr/>
        </p:nvSpPr>
        <p:spPr>
          <a:xfrm>
            <a:off x="9265615" y="274320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SUSPENDED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017520" y="3118104"/>
            <a:ext cx="1935328" cy="164592"/>
          </a:xfrm>
          <a:prstGeom prst="rightArrow">
            <a:avLst/>
          </a:prstGeom>
          <a:solidFill>
            <a:srgbClr val="C9B8E8"/>
          </a:solidFill>
          <a:ln/>
        </p:spPr>
      </p:sp>
      <p:sp>
        <p:nvSpPr>
          <p:cNvPr id="11" name="Text 9"/>
          <p:cNvSpPr/>
          <p:nvPr/>
        </p:nvSpPr>
        <p:spPr>
          <a:xfrm>
            <a:off x="2926080" y="2423160"/>
            <a:ext cx="21182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end_date passes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238848" y="3621024"/>
            <a:ext cx="1935328" cy="164592"/>
          </a:xfrm>
          <a:prstGeom prst="leftArrow">
            <a:avLst/>
          </a:prstGeom>
          <a:solidFill>
            <a:srgbClr val="F2B705"/>
          </a:solidFill>
          <a:ln/>
        </p:spPr>
      </p:sp>
      <p:sp>
        <p:nvSpPr>
          <p:cNvPr id="13" name="Text 11"/>
          <p:cNvSpPr/>
          <p:nvPr/>
        </p:nvSpPr>
        <p:spPr>
          <a:xfrm>
            <a:off x="7147408" y="3886200"/>
            <a:ext cx="21182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renewMembership()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 flipV="1">
            <a:off x="1097280" y="1691640"/>
            <a:ext cx="1097280" cy="914400"/>
          </a:xfrm>
          <a:prstGeom prst="bentArrow">
            <a:avLst/>
          </a:prstGeom>
          <a:solidFill>
            <a:srgbClr val="3B1E63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137160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suspendMembership()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48640" y="52120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24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isActive() = status == ACTIVE  &amp;&amp;  endDate has not passed. Gates both check-in (AT-3) and class booking (AT-4).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E2C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1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Statecharts — Attendance &amp; Account Lockout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51560" y="160020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E2C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960120" y="2331720"/>
            <a:ext cx="1737360" cy="777240"/>
          </a:xfrm>
          <a:prstGeom prst="roundRect">
            <a:avLst>
              <a:gd name="adj" fmla="val 50000"/>
            </a:avLst>
          </a:prstGeom>
          <a:solidFill>
            <a:srgbClr val="F4F0FB"/>
          </a:solidFill>
          <a:ln w="12700">
            <a:solidFill>
              <a:srgbClr val="C9B8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233172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B1E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Checked Out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794760" y="2331720"/>
            <a:ext cx="1737360" cy="777240"/>
          </a:xfrm>
          <a:prstGeom prst="roundRect">
            <a:avLst>
              <a:gd name="adj" fmla="val 50000"/>
            </a:avLst>
          </a:prstGeom>
          <a:solidFill>
            <a:srgbClr val="5E2CA5"/>
          </a:solidFill>
          <a:ln/>
        </p:spPr>
      </p:sp>
      <p:sp>
        <p:nvSpPr>
          <p:cNvPr id="8" name="Text 6"/>
          <p:cNvSpPr/>
          <p:nvPr/>
        </p:nvSpPr>
        <p:spPr>
          <a:xfrm>
            <a:off x="3794760" y="233172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Checked In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2770632" y="2441448"/>
            <a:ext cx="950976" cy="128016"/>
          </a:xfrm>
          <a:prstGeom prst="rightArrow">
            <a:avLst/>
          </a:prstGeom>
          <a:solidFill>
            <a:srgbClr val="F2B705"/>
          </a:solidFill>
          <a:ln/>
        </p:spPr>
      </p:sp>
      <p:sp>
        <p:nvSpPr>
          <p:cNvPr id="10" name="Text 8"/>
          <p:cNvSpPr/>
          <p:nvPr/>
        </p:nvSpPr>
        <p:spPr>
          <a:xfrm>
            <a:off x="2697480" y="203911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checkIn()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770632" y="2871216"/>
            <a:ext cx="950976" cy="128016"/>
          </a:xfrm>
          <a:prstGeom prst="leftArrow">
            <a:avLst/>
          </a:prstGeom>
          <a:solidFill>
            <a:srgbClr val="C9B8E8"/>
          </a:solidFill>
          <a:ln/>
        </p:spPr>
      </p:sp>
      <p:sp>
        <p:nvSpPr>
          <p:cNvPr id="12" name="Text 10"/>
          <p:cNvSpPr/>
          <p:nvPr/>
        </p:nvSpPr>
        <p:spPr>
          <a:xfrm>
            <a:off x="2697480" y="31546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checkOut()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858000" y="160020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E2C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Lockout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766560" y="2331720"/>
            <a:ext cx="1737360" cy="777240"/>
          </a:xfrm>
          <a:prstGeom prst="roundRect">
            <a:avLst>
              <a:gd name="adj" fmla="val 50000"/>
            </a:avLst>
          </a:prstGeom>
          <a:solidFill>
            <a:srgbClr val="F4F0FB"/>
          </a:solidFill>
          <a:ln w="12700">
            <a:solidFill>
              <a:srgbClr val="C9B8E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766560" y="233172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B1E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Unlocked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9601200" y="2331720"/>
            <a:ext cx="1737360" cy="777240"/>
          </a:xfrm>
          <a:prstGeom prst="roundRect">
            <a:avLst>
              <a:gd name="adj" fmla="val 50000"/>
            </a:avLst>
          </a:prstGeom>
          <a:solidFill>
            <a:srgbClr val="5E2CA5"/>
          </a:solidFill>
          <a:ln/>
        </p:spPr>
      </p:sp>
      <p:sp>
        <p:nvSpPr>
          <p:cNvPr id="17" name="Text 15"/>
          <p:cNvSpPr/>
          <p:nvPr/>
        </p:nvSpPr>
        <p:spPr>
          <a:xfrm>
            <a:off x="9601200" y="233172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Locked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8577072" y="2441448"/>
            <a:ext cx="950976" cy="128016"/>
          </a:xfrm>
          <a:prstGeom prst="rightArrow">
            <a:avLst/>
          </a:prstGeom>
          <a:solidFill>
            <a:srgbClr val="F2B705"/>
          </a:solidFill>
          <a:ln/>
        </p:spPr>
      </p:sp>
      <p:sp>
        <p:nvSpPr>
          <p:cNvPr id="19" name="Text 17"/>
          <p:cNvSpPr/>
          <p:nvPr/>
        </p:nvSpPr>
        <p:spPr>
          <a:xfrm>
            <a:off x="8503920" y="203911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5th failed login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8577072" y="2871216"/>
            <a:ext cx="950976" cy="128016"/>
          </a:xfrm>
          <a:prstGeom prst="leftArrow">
            <a:avLst/>
          </a:prstGeom>
          <a:solidFill>
            <a:srgbClr val="C9B8E8"/>
          </a:solidFill>
          <a:ln/>
        </p:spPr>
      </p:sp>
      <p:sp>
        <p:nvSpPr>
          <p:cNvPr id="21" name="Text 19"/>
          <p:cNvSpPr/>
          <p:nvPr/>
        </p:nvSpPr>
        <p:spPr>
          <a:xfrm>
            <a:off x="8503920" y="31546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unlocks after 15 min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48640" y="4206240"/>
            <a:ext cx="11094415" cy="1737360"/>
          </a:xfrm>
          <a:prstGeom prst="roundRect">
            <a:avLst>
              <a:gd name="adj" fmla="val 4737"/>
            </a:avLst>
          </a:prstGeom>
          <a:solidFill>
            <a:srgbClr val="F4F0FB"/>
          </a:solidFill>
          <a:ln/>
          <a:effectLst>
            <a:outerShdw sx="100000" sy="100000" kx="0" ky="0" algn="bl" rotWithShape="0" blurRad="76200" dist="25400" dir="5400000">
              <a:srgbClr val="8A78A8">
                <a:alpha val="2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868680" y="44348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E2C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SRS 4.2 Robustness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68680" y="4773168"/>
            <a:ext cx="104543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member cannot check in twice without checking out first, and cannot check in while their membership is expired or suspended. A user account is automatically locked for 15 minutes after 5 consecutive failed login attempts, then unlocks itself — no admin intervention required.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E2C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FUNCTIONAL REQUIREMENTS — SRS 3.2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1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Core Use Cases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566928" cy="566928"/>
          </a:xfrm>
          <a:prstGeom prst="ellipse">
            <a:avLst/>
          </a:prstGeom>
          <a:solidFill>
            <a:srgbClr val="5E2CA5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49047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325880" y="1490472"/>
            <a:ext cx="2834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41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Register Member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297680" y="1490472"/>
            <a:ext cx="734537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Receptionist captures profile details, selects a plan, and creates an active membership.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404872"/>
            <a:ext cx="566928" cy="566928"/>
          </a:xfrm>
          <a:prstGeom prst="ellipse">
            <a:avLst/>
          </a:prstGeom>
          <a:solidFill>
            <a:srgbClr val="3B1E63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38658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325880" y="2386584"/>
            <a:ext cx="2834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41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Member Login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297680" y="2386584"/>
            <a:ext cx="734537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Username/password auth with lockout protection; routes to the correct role dashboard.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3300984"/>
            <a:ext cx="566928" cy="566928"/>
          </a:xfrm>
          <a:prstGeom prst="ellipse">
            <a:avLst/>
          </a:prstGeom>
          <a:solidFill>
            <a:srgbClr val="5E2CA5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32826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325880" y="3282696"/>
            <a:ext cx="2834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41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 In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297680" y="3282696"/>
            <a:ext cx="734537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Verifies an active membership before logging a timestamped attendance record.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4197096"/>
            <a:ext cx="566928" cy="566928"/>
          </a:xfrm>
          <a:prstGeom prst="ellipse">
            <a:avLst/>
          </a:prstGeom>
          <a:solidFill>
            <a:srgbClr val="3B1E63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417880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325880" y="4178808"/>
            <a:ext cx="2834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41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Book Fitness Class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297680" y="4178808"/>
            <a:ext cx="734537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Members reserve open seats in trainer-scheduled classes; capacity enforced live.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48640" y="5093208"/>
            <a:ext cx="566928" cy="566928"/>
          </a:xfrm>
          <a:prstGeom prst="ellipse">
            <a:avLst/>
          </a:prstGeom>
          <a:solidFill>
            <a:srgbClr val="5E2CA5"/>
          </a:solidFill>
          <a:ln/>
        </p:spPr>
      </p:sp>
      <p:sp>
        <p:nvSpPr>
          <p:cNvPr id="21" name="Text 19"/>
          <p:cNvSpPr/>
          <p:nvPr/>
        </p:nvSpPr>
        <p:spPr>
          <a:xfrm>
            <a:off x="548640" y="50749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325880" y="5074920"/>
            <a:ext cx="2834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41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Process Payment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297680" y="5074920"/>
            <a:ext cx="734537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Receptionist charges a membership plan and extends/reactivates the subscription.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E2C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NON-FUNCTIONAL REQUIREMENTS — SRS 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1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Security &amp; Reliability Highlights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64328" cy="1783080"/>
          </a:xfrm>
          <a:prstGeom prst="roundRect">
            <a:avLst>
              <a:gd name="adj" fmla="val 4615"/>
            </a:avLst>
          </a:prstGeom>
          <a:solidFill>
            <a:srgbClr val="F4F0FB"/>
          </a:solidFill>
          <a:ln/>
          <a:effectLst>
            <a:outerShdw sx="100000" sy="100000" kx="0" ky="0" algn="bl" rotWithShape="0" blurRad="76200" dist="25400" dir="5400000">
              <a:srgbClr val="8A78A8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50976" y="2125980"/>
            <a:ext cx="384048" cy="352044"/>
          </a:xfrm>
          <a:prstGeom prst="ellipse">
            <a:avLst/>
          </a:prstGeom>
          <a:ln w="800">
            <a:solidFill>
              <a:srgbClr val="5E2CA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86968" y="2394814"/>
            <a:ext cx="512064" cy="352044"/>
          </a:xfrm>
          <a:prstGeom prst="roundRect">
            <a:avLst>
              <a:gd name="adj" fmla="val 10390"/>
            </a:avLst>
          </a:prstGeom>
          <a:solidFill>
            <a:srgbClr val="5E2CA5"/>
          </a:solidFill>
          <a:ln/>
        </p:spPr>
      </p:sp>
      <p:sp>
        <p:nvSpPr>
          <p:cNvPr id="7" name="Text 5"/>
          <p:cNvSpPr/>
          <p:nvPr/>
        </p:nvSpPr>
        <p:spPr>
          <a:xfrm>
            <a:off x="1737360" y="1810512"/>
            <a:ext cx="39470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41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Password Hashing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1737360" y="2212848"/>
            <a:ext cx="39470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PBKDF2WithHmacSHA256, 65,536 iterations, random salt per user — never stored in plaintext.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78728" y="1554480"/>
            <a:ext cx="5364328" cy="1783080"/>
          </a:xfrm>
          <a:prstGeom prst="roundRect">
            <a:avLst>
              <a:gd name="adj" fmla="val 4615"/>
            </a:avLst>
          </a:prstGeom>
          <a:solidFill>
            <a:srgbClr val="F4F0FB"/>
          </a:solidFill>
          <a:ln/>
          <a:effectLst>
            <a:outerShdw sx="100000" sy="100000" kx="0" ky="0" algn="bl" rotWithShape="0" blurRad="76200" dist="25400" dir="5400000">
              <a:srgbClr val="8A78A8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53048" y="2125980"/>
            <a:ext cx="640080" cy="640080"/>
          </a:xfrm>
          <a:prstGeom prst="donut">
            <a:avLst/>
          </a:prstGeom>
          <a:solidFill>
            <a:srgbClr val="5E2CA5"/>
          </a:solidFill>
          <a:ln/>
        </p:spPr>
      </p:sp>
      <p:sp>
        <p:nvSpPr>
          <p:cNvPr id="11" name="Text 9"/>
          <p:cNvSpPr/>
          <p:nvPr/>
        </p:nvSpPr>
        <p:spPr>
          <a:xfrm>
            <a:off x="7467448" y="1810512"/>
            <a:ext cx="39470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41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Brute-Force Lockout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7467448" y="2212848"/>
            <a:ext cx="39470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failed attempts locks an account for 15 minutes automatically.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48640" y="3703320"/>
            <a:ext cx="5364328" cy="1783080"/>
          </a:xfrm>
          <a:prstGeom prst="roundRect">
            <a:avLst>
              <a:gd name="adj" fmla="val 4615"/>
            </a:avLst>
          </a:prstGeom>
          <a:solidFill>
            <a:srgbClr val="F4F0FB"/>
          </a:solidFill>
          <a:ln/>
          <a:effectLst>
            <a:outerShdw sx="100000" sy="100000" kx="0" ky="0" algn="bl" rotWithShape="0" blurRad="76200" dist="25400" dir="5400000">
              <a:srgbClr val="8A78A8">
                <a:alpha val="2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22960" y="4274820"/>
            <a:ext cx="640080" cy="640080"/>
          </a:xfrm>
          <a:prstGeom prst="hexagon">
            <a:avLst/>
          </a:prstGeom>
          <a:solidFill>
            <a:srgbClr val="5E2CA5"/>
          </a:solidFill>
          <a:ln/>
        </p:spPr>
      </p:sp>
      <p:sp>
        <p:nvSpPr>
          <p:cNvPr id="15" name="Text 13"/>
          <p:cNvSpPr/>
          <p:nvPr/>
        </p:nvSpPr>
        <p:spPr>
          <a:xfrm>
            <a:off x="1737360" y="3959352"/>
            <a:ext cx="39470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41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Role-Based Access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1737360" y="4361688"/>
            <a:ext cx="39470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Members &amp; trainers cannot reach admin tables or financial logs.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278728" y="3703320"/>
            <a:ext cx="5364328" cy="1783080"/>
          </a:xfrm>
          <a:prstGeom prst="roundRect">
            <a:avLst>
              <a:gd name="adj" fmla="val 4615"/>
            </a:avLst>
          </a:prstGeom>
          <a:solidFill>
            <a:srgbClr val="F4F0FB"/>
          </a:solidFill>
          <a:ln/>
          <a:effectLst>
            <a:outerShdw sx="100000" sy="100000" kx="0" ky="0" algn="bl" rotWithShape="0" blurRad="76200" dist="25400" dir="5400000">
              <a:srgbClr val="8A78A8">
                <a:alpha val="2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553048" y="4274820"/>
            <a:ext cx="640080" cy="640080"/>
          </a:xfrm>
          <a:prstGeom prst="can">
            <a:avLst/>
          </a:prstGeom>
          <a:solidFill>
            <a:srgbClr val="5E2CA5"/>
          </a:solidFill>
          <a:ln/>
        </p:spPr>
      </p:sp>
      <p:sp>
        <p:nvSpPr>
          <p:cNvPr id="19" name="Text 17"/>
          <p:cNvSpPr/>
          <p:nvPr/>
        </p:nvSpPr>
        <p:spPr>
          <a:xfrm>
            <a:off x="7467448" y="3959352"/>
            <a:ext cx="39470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41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SQL Injection Defense</a:t>
            </a:r>
            <a:endParaRPr lang="en-US" sz="1550" dirty="0"/>
          </a:p>
        </p:txBody>
      </p:sp>
      <p:sp>
        <p:nvSpPr>
          <p:cNvPr id="20" name="Text 18"/>
          <p:cNvSpPr/>
          <p:nvPr/>
        </p:nvSpPr>
        <p:spPr>
          <a:xfrm>
            <a:off x="7467448" y="4361688"/>
            <a:ext cx="39470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query across every DAO uses PreparedStatement — zero string-concatenated SQL.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E2C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ASSURANCE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1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Acceptance Testing Approach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4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use case has a documented test in docs/acceptance-test-plan.md covering the happy path plus every alternate flow from the SRS — executed against a live MySQL instance with a screenshot per step.</a:t>
            </a:r>
            <a:endParaRPr lang="en-US" sz="1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48840"/>
          <a:ext cx="11094415" cy="3749040"/>
        </p:xfrm>
        <a:graphic>
          <a:graphicData uri="http://schemas.openxmlformats.org/drawingml/2006/table">
            <a:tbl>
              <a:tblPr/>
              <a:tblGrid>
                <a:gridCol w="1005840"/>
                <a:gridCol w="2743200"/>
                <a:gridCol w="7345375"/>
              </a:tblGrid>
              <a:tr h="624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E2CA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 Case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E2CA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Alternate Flows Verified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E2CA5"/>
                    </a:solidFill>
                  </a:tcPr>
                </a:tc>
              </a:tr>
              <a:tr h="624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B1E6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AT-1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4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Register Member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B6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Duplicate username/email; missing required fields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FB"/>
                    </a:solidFill>
                  </a:tcPr>
                </a:tc>
              </a:tr>
              <a:tr h="624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B1E6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AT-2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4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Member Login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B6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Wrong password x5 → lockout; correct password rejected while locked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4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B1E6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AT-3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4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 In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B6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Already checked in; suspended membership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FB"/>
                    </a:solidFill>
                  </a:tcPr>
                </a:tc>
              </a:tr>
              <a:tr h="624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B1E6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AT-4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4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Book Fitness Class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B6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 full; duplicate booking; expired membership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4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B1E6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AT-5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4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Process Payment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B6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Declined payment; membership correctly extended on success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E2C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1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 Stack &amp; Tooling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194560"/>
            <a:ext cx="1184148" cy="566928"/>
          </a:xfrm>
          <a:prstGeom prst="roundRect">
            <a:avLst>
              <a:gd name="adj" fmla="val 50000"/>
            </a:avLst>
          </a:prstGeom>
          <a:solidFill>
            <a:srgbClr val="F4F0FB"/>
          </a:solidFill>
          <a:ln w="12700">
            <a:solidFill>
              <a:srgbClr val="C9B8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2194560"/>
            <a:ext cx="11841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B1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17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961388" y="2194560"/>
            <a:ext cx="1554480" cy="566928"/>
          </a:xfrm>
          <a:prstGeom prst="roundRect">
            <a:avLst>
              <a:gd name="adj" fmla="val 50000"/>
            </a:avLst>
          </a:prstGeom>
          <a:solidFill>
            <a:srgbClr val="F4F0FB"/>
          </a:solidFill>
          <a:ln w="12700">
            <a:solidFill>
              <a:srgbClr val="C9B8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961388" y="2194560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B1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Swing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744468" y="2194560"/>
            <a:ext cx="1184148" cy="566928"/>
          </a:xfrm>
          <a:prstGeom prst="roundRect">
            <a:avLst>
              <a:gd name="adj" fmla="val 50000"/>
            </a:avLst>
          </a:prstGeom>
          <a:solidFill>
            <a:srgbClr val="F4F0FB"/>
          </a:solidFill>
          <a:ln w="12700">
            <a:solidFill>
              <a:srgbClr val="C9B8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744468" y="2194560"/>
            <a:ext cx="11841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B1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 8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157216" y="2194560"/>
            <a:ext cx="813816" cy="566928"/>
          </a:xfrm>
          <a:prstGeom prst="roundRect">
            <a:avLst>
              <a:gd name="adj" fmla="val 50000"/>
            </a:avLst>
          </a:prstGeom>
          <a:solidFill>
            <a:srgbClr val="F4F0FB"/>
          </a:solidFill>
          <a:ln w="12700">
            <a:solidFill>
              <a:srgbClr val="C9B8E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57216" y="2194560"/>
            <a:ext cx="8138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B1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JDBC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199632" y="2194560"/>
            <a:ext cx="1184148" cy="566928"/>
          </a:xfrm>
          <a:prstGeom prst="roundRect">
            <a:avLst>
              <a:gd name="adj" fmla="val 50000"/>
            </a:avLst>
          </a:prstGeom>
          <a:solidFill>
            <a:srgbClr val="F4F0FB"/>
          </a:solidFill>
          <a:ln w="12700">
            <a:solidFill>
              <a:srgbClr val="C9B8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199632" y="2194560"/>
            <a:ext cx="11841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B1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JUnit 5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612380" y="2194560"/>
            <a:ext cx="690372" cy="566928"/>
          </a:xfrm>
          <a:prstGeom prst="roundRect">
            <a:avLst>
              <a:gd name="adj" fmla="val 50000"/>
            </a:avLst>
          </a:prstGeom>
          <a:solidFill>
            <a:srgbClr val="F4F0FB"/>
          </a:solidFill>
          <a:ln w="12700">
            <a:solidFill>
              <a:srgbClr val="C9B8E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612380" y="2194560"/>
            <a:ext cx="6903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B1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531352" y="2194560"/>
            <a:ext cx="1060704" cy="566928"/>
          </a:xfrm>
          <a:prstGeom prst="roundRect">
            <a:avLst>
              <a:gd name="adj" fmla="val 50000"/>
            </a:avLst>
          </a:prstGeom>
          <a:solidFill>
            <a:srgbClr val="F4F0FB"/>
          </a:solidFill>
          <a:ln w="12700">
            <a:solidFill>
              <a:srgbClr val="C9B8E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531352" y="2194560"/>
            <a:ext cx="10607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B1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48640" y="2990088"/>
            <a:ext cx="1924812" cy="566928"/>
          </a:xfrm>
          <a:prstGeom prst="roundRect">
            <a:avLst>
              <a:gd name="adj" fmla="val 50000"/>
            </a:avLst>
          </a:prstGeom>
          <a:solidFill>
            <a:srgbClr val="F4F0FB"/>
          </a:solidFill>
          <a:ln w="12700">
            <a:solidFill>
              <a:srgbClr val="C9B8E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2990088"/>
            <a:ext cx="19248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B1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IntelliJ IDEA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4206240"/>
            <a:ext cx="11094415" cy="1737360"/>
          </a:xfrm>
          <a:prstGeom prst="roundRect">
            <a:avLst>
              <a:gd name="adj" fmla="val 4737"/>
            </a:avLst>
          </a:prstGeom>
          <a:solidFill>
            <a:srgbClr val="F4F0FB"/>
          </a:solidFill>
          <a:ln/>
          <a:effectLst>
            <a:outerShdw sx="100000" sy="100000" kx="0" ky="0" algn="bl" rotWithShape="0" blurRad="76200" dist="25400" dir="5400000">
              <a:srgbClr val="8A78A8">
                <a:alpha val="2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68680" y="44348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E2C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Maintainability (SRS 4.4)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68680" y="4773168"/>
            <a:ext cx="104543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Modular OOP layering, DB credentials externalized to db.properties (never hard-coded), and membership tier pricing editable from the Admin Dashboard — no rebuild required to change a rate.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E2C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REPOSITORY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1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Version Control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E2C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github.com/dipeshmahato111/GymMembershipLoginSystem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11094415" cy="2587358"/>
          </a:xfrm>
          <a:prstGeom prst="roundRect">
            <a:avLst>
              <a:gd name="adj" fmla="val 2827"/>
            </a:avLst>
          </a:prstGeom>
          <a:solidFill>
            <a:srgbClr val="0D1117"/>
          </a:solidFill>
          <a:ln w="12700">
            <a:solidFill>
              <a:srgbClr val="C9B8E8"/>
            </a:solidFill>
            <a:prstDash val="solid"/>
          </a:ln>
        </p:spPr>
      </p:sp>
      <p:pic>
        <p:nvPicPr>
          <p:cNvPr id="6" name="Image 0" descr="network-grap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2039112"/>
            <a:ext cx="10948111" cy="244105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4727054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history on a single main branch (3 commits) as of this snapshot — captured directly from GitHub Insights → Network.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3B1E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01488" y="1508760"/>
            <a:ext cx="1188720" cy="1188720"/>
          </a:xfrm>
          <a:prstGeom prst="ellipse">
            <a:avLst/>
          </a:prstGeom>
          <a:solidFill>
            <a:srgbClr val="F2B705"/>
          </a:solidFill>
          <a:ln w="743">
            <a:solidFill>
              <a:srgbClr val="3B1E6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858104" y="2043684"/>
            <a:ext cx="475488" cy="118872"/>
          </a:xfrm>
          <a:prstGeom prst="roundRect">
            <a:avLst>
              <a:gd name="adj" fmla="val 50000"/>
            </a:avLst>
          </a:prstGeom>
          <a:solidFill>
            <a:srgbClr val="3B1E63"/>
          </a:solidFill>
          <a:ln/>
        </p:spPr>
      </p:sp>
      <p:sp>
        <p:nvSpPr>
          <p:cNvPr id="4" name="Shape 2"/>
          <p:cNvSpPr/>
          <p:nvPr/>
        </p:nvSpPr>
        <p:spPr>
          <a:xfrm>
            <a:off x="5679796" y="1829714"/>
            <a:ext cx="130759" cy="546811"/>
          </a:xfrm>
          <a:prstGeom prst="roundRect">
            <a:avLst>
              <a:gd name="adj" fmla="val 20979"/>
            </a:avLst>
          </a:prstGeom>
          <a:solidFill>
            <a:srgbClr val="3B1E63"/>
          </a:solidFill>
          <a:ln/>
        </p:spPr>
      </p:sp>
      <p:sp>
        <p:nvSpPr>
          <p:cNvPr id="5" name="Shape 3"/>
          <p:cNvSpPr/>
          <p:nvPr/>
        </p:nvSpPr>
        <p:spPr>
          <a:xfrm>
            <a:off x="5834329" y="1924812"/>
            <a:ext cx="130759" cy="356616"/>
          </a:xfrm>
          <a:prstGeom prst="roundRect">
            <a:avLst>
              <a:gd name="adj" fmla="val 20979"/>
            </a:avLst>
          </a:prstGeom>
          <a:solidFill>
            <a:srgbClr val="3B1E63"/>
          </a:solidFill>
          <a:ln/>
        </p:spPr>
      </p:sp>
      <p:sp>
        <p:nvSpPr>
          <p:cNvPr id="6" name="Shape 4"/>
          <p:cNvSpPr/>
          <p:nvPr/>
        </p:nvSpPr>
        <p:spPr>
          <a:xfrm>
            <a:off x="6226607" y="1924812"/>
            <a:ext cx="130759" cy="356616"/>
          </a:xfrm>
          <a:prstGeom prst="roundRect">
            <a:avLst>
              <a:gd name="adj" fmla="val 20979"/>
            </a:avLst>
          </a:prstGeom>
          <a:solidFill>
            <a:srgbClr val="3B1E63"/>
          </a:solidFill>
          <a:ln/>
        </p:spPr>
      </p:sp>
      <p:sp>
        <p:nvSpPr>
          <p:cNvPr id="7" name="Shape 5"/>
          <p:cNvSpPr/>
          <p:nvPr/>
        </p:nvSpPr>
        <p:spPr>
          <a:xfrm>
            <a:off x="6381140" y="1829714"/>
            <a:ext cx="130759" cy="546811"/>
          </a:xfrm>
          <a:prstGeom prst="roundRect">
            <a:avLst>
              <a:gd name="adj" fmla="val 20979"/>
            </a:avLst>
          </a:prstGeom>
          <a:solidFill>
            <a:srgbClr val="3B1E63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3063240"/>
            <a:ext cx="107286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731520" y="3794760"/>
            <a:ext cx="10728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9B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731520" y="6035040"/>
            <a:ext cx="107286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Dipesh Mahato   •   Andrew Lee   •   Dalton Lyon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2026-07-30T17:50:27Z</dcterms:created>
  <dcterms:modified xsi:type="dcterms:W3CDTF">2026-07-30T17:50:27Z</dcterms:modified>
</cp:coreProperties>
</file>